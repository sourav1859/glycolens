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8868b594c4acf" /><Relationship Type="http://schemas.openxmlformats.org/officeDocument/2006/relationships/extended-properties" Target="/docProps/app.xml" Id="R38966e05db8b4074" /><Relationship Type="http://schemas.openxmlformats.org/officeDocument/2006/relationships/officeDocument" Target="/ppt/presentation.xml" Id="R9d708ba29791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61471fe304fe4"/>
  </p:sldMasterIdLst>
  <p:notesMasterIdLst>
    <p:notesMasterId xmlns:r="http://schemas.openxmlformats.org/officeDocument/2006/relationships" r:id="R4665a0dd90a649a2"/>
  </p:notesMasterIdLst>
  <p:sldIdLst>
    <p:sldId xmlns:r="http://schemas.openxmlformats.org/officeDocument/2006/relationships" id="256" r:id="R2443f437df7e4efd"/>
    <p:sldId xmlns:r="http://schemas.openxmlformats.org/officeDocument/2006/relationships" id="257" r:id="R64272e0f915940b6"/>
    <p:sldId xmlns:r="http://schemas.openxmlformats.org/officeDocument/2006/relationships" id="258" r:id="R69a1abdacbe745c0"/>
    <p:sldId xmlns:r="http://schemas.openxmlformats.org/officeDocument/2006/relationships" id="259" r:id="Rd050110504de4d03"/>
    <p:sldId xmlns:r="http://schemas.openxmlformats.org/officeDocument/2006/relationships" id="260" r:id="R81c9755bcb0a447f"/>
    <p:sldId xmlns:r="http://schemas.openxmlformats.org/officeDocument/2006/relationships" id="261" r:id="R82b36fa0b19a41f6"/>
    <p:sldId xmlns:r="http://schemas.openxmlformats.org/officeDocument/2006/relationships" id="262" r:id="R025f6c4ad6e242f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40d51456544c1" /><Relationship Type="http://schemas.openxmlformats.org/officeDocument/2006/relationships/slideMaster" Target="/ppt/slideMasters/slideMaster1.xml" Id="Rc1a61471fe304fe4" /><Relationship Type="http://schemas.openxmlformats.org/officeDocument/2006/relationships/notesMaster" Target="/ppt/notesMasters/notesMaster1.xml" Id="R4665a0dd90a649a2" /><Relationship Type="http://schemas.openxmlformats.org/officeDocument/2006/relationships/presProps" Target="/ppt/presProps.xml" Id="R5e3958d581e349e0" /><Relationship Type="http://schemas.openxmlformats.org/officeDocument/2006/relationships/viewProps" Target="/ppt/viewProps.xml" Id="R83a8163a29c1401b" /><Relationship Type="http://schemas.openxmlformats.org/officeDocument/2006/relationships/tableStyles" Target="/ppt/tableStyles.xml" Id="Rb70f7f3a711f40d7" /><Relationship Type="http://schemas.openxmlformats.org/officeDocument/2006/relationships/slide" Target="/ppt/slides/slide1.xml" Id="R2443f437df7e4efd" /><Relationship Type="http://schemas.openxmlformats.org/officeDocument/2006/relationships/slide" Target="/ppt/slides/slide2.xml" Id="R64272e0f915940b6" /><Relationship Type="http://schemas.openxmlformats.org/officeDocument/2006/relationships/slide" Target="/ppt/slides/slide3.xml" Id="R69a1abdacbe745c0" /><Relationship Type="http://schemas.openxmlformats.org/officeDocument/2006/relationships/slide" Target="/ppt/slides/slide4.xml" Id="Rd050110504de4d03" /><Relationship Type="http://schemas.openxmlformats.org/officeDocument/2006/relationships/slide" Target="/ppt/slides/slide5.xml" Id="R81c9755bcb0a447f" /><Relationship Type="http://schemas.openxmlformats.org/officeDocument/2006/relationships/slide" Target="/ppt/slides/slide6.xml" Id="R82b36fa0b19a41f6" /><Relationship Type="http://schemas.openxmlformats.org/officeDocument/2006/relationships/slide" Target="/ppt/slides/slide7.xml" Id="R025f6c4ad6e2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e90ebde81d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IT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76904"/>
      </a:accent1>
      <a:accent2>
        <a:srgbClr val="F6BE00"/>
      </a:accent2>
      <a:accent3>
        <a:srgbClr val="C3D500"/>
      </a:accent3>
      <a:accent4>
        <a:srgbClr val="009BBD"/>
      </a:accent4>
      <a:accent5>
        <a:srgbClr val="DA291B"/>
      </a:accent5>
      <a:accent6>
        <a:srgbClr val="7D54C7"/>
      </a:accent6>
      <a:hlink>
        <a:srgbClr val="F76904"/>
      </a:hlink>
      <a:folHlink>
        <a:srgbClr val="7174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T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1be91f97040e9" /><Relationship Type="http://schemas.openxmlformats.org/officeDocument/2006/relationships/notesMaster" Target="/ppt/notesMasters/notesMaster1.xml" Id="R0282a7da435b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38ea62a634700" /><Relationship Type="http://schemas.openxmlformats.org/officeDocument/2006/relationships/notesMaster" Target="/ppt/notesMasters/notesMaster1.xml" Id="Rde9e41afc8d9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a2d0ae4de4f24" /><Relationship Type="http://schemas.openxmlformats.org/officeDocument/2006/relationships/notesMaster" Target="/ppt/notesMasters/notesMaster1.xml" Id="Reb77f8c95e6843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0ef82d0f8249b5" /><Relationship Type="http://schemas.openxmlformats.org/officeDocument/2006/relationships/notesMaster" Target="/ppt/notesMasters/notesMaster1.xml" Id="R15fd67005ac74e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d823635bf4f0c" /><Relationship Type="http://schemas.openxmlformats.org/officeDocument/2006/relationships/notesMaster" Target="/ppt/notesMasters/notesMaster1.xml" Id="R80d9d9911cb148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cd320236ea4002" /><Relationship Type="http://schemas.openxmlformats.org/officeDocument/2006/relationships/notesMaster" Target="/ppt/notesMasters/notesMaster1.xml" Id="R86600e5d285241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e4ad760a284d59" /><Relationship Type="http://schemas.openxmlformats.org/officeDocument/2006/relationships/notesMaster" Target="/ppt/notesMasters/notesMaster1.xml" Id="R379d753d6e7d4c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0:00–0:35.</a:t>
            </a:r>
          </a:p>
          <a:p xmlns:a="http://schemas.openxmlformats.org/drawingml/2006/main">
            <a:r>
              <a:t>GlycoLens Milestone 1 asked a feasibility question: can a leakage-safe meal-centered data pipeline, a pretrained forecasting model, a web visualization, a local database contract, and a virtual-patient simulator operate together as a defensible research foundation?</a:t>
            </a:r>
          </a:p>
          <a:p xmlns:a="http://schemas.openxmlformats.org/drawingml/2006/main">
            <a:r>
              <a:t>Today I will show what was completed, what the evidence supports, and what remains intentionally outside the claim.</a:t>
            </a:r>
          </a:p>
          <a:p xmlns:a="http://schemas.openxmlformats.org/drawingml/2006/main">
            <a:r>
              <a:t>Source: docs/planning/GlycoLens_06_Milestones_and_Schedule.md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0:35–1:15.</a:t>
            </a:r>
          </a:p>
          <a:p xmlns:a="http://schemas.openxmlformats.org/drawingml/2006/main">
            <a:r>
              <a:t>The core challenge is not only model selection. The dataset must be aligned so the model sees only information available at forecast time.</a:t>
            </a:r>
          </a:p>
          <a:p xmlns:a="http://schemas.openxmlformats.org/drawingml/2006/main">
            <a:r>
              <a:t>The product boundary is equally important: the interface communicates uncertainty and does not provide treatment or insulin-dose advice.</a:t>
            </a:r>
          </a:p>
          <a:p xmlns:a="http://schemas.openxmlformats.org/drawingml/2006/main">
            <a:r>
              <a:t>Source: docs/planning/GlycoLens_01_Updated_Project_Summary.md; docs/planning/GlycoLens_08_Risks_Safety_and_Scope.md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1:15–2:00.</a:t>
            </a:r>
          </a:p>
          <a:p xmlns:a="http://schemas.openxmlformats.org/drawingml/2006/main">
            <a:r>
              <a:t>The main vertical slice starts with the verified dataset, constructs leakage-safe meal windows, normalizes models behind one forecast contract, transports results through FastAPI, and renders them in Next.js.</a:t>
            </a:r>
          </a:p>
          <a:p xmlns:a="http://schemas.openxmlformats.org/drawingml/2006/main">
            <a:r>
              <a:t>Database and simulator feasibility were validated locally as adjacent boundaries. Neither real research rows nor local service credentials are committed.</a:t>
            </a:r>
          </a:p>
          <a:p xmlns:a="http://schemas.openxmlformats.org/drawingml/2006/main">
            <a:r>
              <a:t>Source: docs/planning/GlycoLens_04_Tech_Stack_and_System_Architecture.md; docs/reports/milestone-1-phase-4-api-visualization.md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2:00–2:55.</a:t>
            </a:r>
          </a:p>
          <a:p xmlns:a="http://schemas.openxmlformats.org/drawingml/2006/main">
            <a:r>
              <a:t>The audit covered 62 files and 386,564 rows. Fifteen participants have CGM, nutrition, and at least one insulin modality; thirteen have all four core modalities.</a:t>
            </a:r>
          </a:p>
          <a:p xmlns:a="http://schemas.openxmlformats.org/drawingml/2006/main">
            <a:r>
              <a:t>Under the default two-hour history and two-hour target policy, 927 of 3,884 valid loaded meals became eligible windows, a 23.87 percent yield.</a:t>
            </a:r>
          </a:p>
          <a:p xmlns:a="http://schemas.openxmlformats.org/drawingml/2006/main">
            <a:r>
              <a:t>Chronos-2 produced the required 24-step quantile forecast on CPU. These runtime numbers are machine-specific and the single window does not establish model quality.</a:t>
            </a:r>
          </a:p>
          <a:p xmlns:a="http://schemas.openxmlformats.org/drawingml/2006/main">
            <a:r>
              <a:t>Sources: docs/reports/milestone-1-data-pipeline-implementation.md; docs/reports/milestone-1-phase-3-chronos2-smoke.md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2:55–3:50.</a:t>
            </a:r>
          </a:p>
          <a:p xmlns:a="http://schemas.openxmlformats.org/drawingml/2006/main">
            <a:r>
              <a:t>The public demo uses a typed, identifier-free synthetic response. The browser renders observed history, median forecast, an uncertainty interval, and 30, 60, and 120 minute summaries.</a:t>
            </a:r>
          </a:p>
          <a:p xmlns:a="http://schemas.openxmlformats.org/drawingml/2006/main">
            <a:r>
              <a:t>The local database migration creates ten application tables with row-level security and constraints; a clean reset and all twenty pgTAP tests passed.</a:t>
            </a:r>
          </a:p>
          <a:p xmlns:a="http://schemas.openxmlformats.org/drawingml/2006/main">
            <a:r>
              <a:t>The pinned py-mgipsim run produced 288 five-minute samples. Two executions produced byte-identical JSON. The plotted values are synthetic and support only software feasibility.</a:t>
            </a:r>
          </a:p>
          <a:p xmlns:a="http://schemas.openxmlformats.org/drawingml/2006/main">
            <a:r>
              <a:t>Sources: docs/reports/milestone-1-phase-4-api-visualization.md; docs/reports/milestone-1-phase-5-local-database.md; docs/reports/milestone-1-phase-6-pymgipsim-scenario.md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3:50–4:40.</a:t>
            </a:r>
          </a:p>
          <a:p xmlns:a="http://schemas.openxmlformats.org/drawingml/2006/main">
            <a:r>
              <a:t>The final audit maps every required Milestone 1 workstream to a concrete artifact and validation result.</a:t>
            </a:r>
          </a:p>
          <a:p xmlns:a="http://schemas.openxmlformats.org/drawingml/2006/main">
            <a:r>
              <a:t>The closure decision is pass. This means the feasibility and planning milestone is complete; it does not mean the research system is clinically validated or production-ready.</a:t>
            </a:r>
          </a:p>
          <a:p xmlns:a="http://schemas.openxmlformats.org/drawingml/2006/main">
            <a:r>
              <a:t>The full test rerun and exact commands are recorded in docs/reports/milestone-1-closure-audit.md.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4:40–5:30.</a:t>
            </a:r>
          </a:p>
          <a:p xmlns:a="http://schemas.openxmlformats.org/drawingml/2006/main">
            <a:r>
              <a:t>Milestone 2 should move from technical feasibility to comparative evidence. The first priority is a participant-level benchmark against persistence, followed by context ablations that quantify whether insulin and nutrition improve the forecast.</a:t>
            </a:r>
          </a:p>
          <a:p xmlns:a="http://schemas.openxmlformats.org/drawingml/2006/main">
            <a:r>
              <a:t>In parallel, the product workflow can add nutrition capture while preserving the research/application data boundary.</a:t>
            </a:r>
          </a:p>
          <a:p xmlns:a="http://schemas.openxmlformats.org/drawingml/2006/main">
            <a:r>
              <a:t>I would like advisor confirmation on the primary evaluation metrics and on whether a TimesFM comparison is worth the schedule cost now that Chronos-2 feasibility is established.</a:t>
            </a:r>
          </a:p>
          <a:p xmlns:a="http://schemas.openxmlformats.org/drawingml/2006/main">
            <a:r>
              <a:t>Source: docs/planning/GlycoLens_06_Milestones_and_Schedule.md; docs/planning/GlycoLens_05_Scientific_Method_and_Evaluation.md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4ae05d80b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3e1fc646e49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3b1addcd04638" /><Relationship Type="http://schemas.openxmlformats.org/officeDocument/2006/relationships/image" Target="/ppt/media/image.png" Id="Ra0b2b3db1f2a44f2" /><Relationship Type="http://schemas.openxmlformats.org/officeDocument/2006/relationships/image" Target="/ppt/media/image.svg" Id="R795d0823abd042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fcf7b6ba644d9" /><Relationship Type="http://schemas.openxmlformats.org/officeDocument/2006/relationships/image" Target="/ppt/media/image.png" Id="R5ff730bbd4e04276" /><Relationship Type="http://schemas.openxmlformats.org/officeDocument/2006/relationships/image" Target="/ppt/media/image.svg" Id="R484fff2f233a4f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df0d67bce4dbf" /><Relationship Type="http://schemas.openxmlformats.org/officeDocument/2006/relationships/image" Target="/ppt/media/image.png" Id="R58e67f222a674b4d" /><Relationship Type="http://schemas.openxmlformats.org/officeDocument/2006/relationships/image" Target="/ppt/media/image.svg" Id="Rc213e38618d049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5b044d1dd47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1dd325ca145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9db4258dd40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013ed0fa445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6c503cb4f4e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7207cb7154a9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c96c7da31462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472f1550646c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84d2f87204b1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5933404a142b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3182b4cfd4c61" /><Relationship Type="http://schemas.openxmlformats.org/officeDocument/2006/relationships/image" Target="/ppt/media/image.png" Id="R4a2f5a6ec60146e2" /><Relationship Type="http://schemas.openxmlformats.org/officeDocument/2006/relationships/image" Target="/ppt/media/image.svg" Id="R629614dadf464ba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40343fc4a418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f1b946809475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2aadb4b6a476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0814cfa54442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07e658870451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1e7a79c96466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a277b9f8841e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096ace5b64f6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3b86cfcea4d9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b2c5af7134a9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eea93f9c748f0" /><Relationship Type="http://schemas.openxmlformats.org/officeDocument/2006/relationships/image" Target="/ppt/media/image.jpeg" Id="Rd26c33a99a4946b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a6b0d79134b27" /><Relationship Type="http://schemas.openxmlformats.org/officeDocument/2006/relationships/image" Target="/ppt/media/image2.jpeg" Id="R256c1b9549d647b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10f1372c84ffa" /><Relationship Type="http://schemas.openxmlformats.org/officeDocument/2006/relationships/image" Target="/ppt/media/image3.jpeg" Id="R1cb82280e4f942f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005ce6189483b" /></Relationships>
</file>

<file path=ppt/slideLayouts/slideLayout1.xml><?xml version="1.0" encoding="utf-8"?>
<p:sldLayout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30785" y="2512134"/>
            <a:ext cx="7172967" cy="1465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Presentation Title</a:t>
            </a: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E7FA92C6-DCCE-F36A-8392-7FE6F6B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5" y="1145059"/>
            <a:ext cx="3045129" cy="4179526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99AE78D-F503-487D-C497-E7EB57A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7" y="3774362"/>
            <a:ext cx="1994818" cy="2707171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  <a:gd name="connsiteX0" fmla="*/ 1074 w 329115"/>
              <a:gd name="connsiteY0" fmla="*/ 0 h 451320"/>
              <a:gd name="connsiteX1" fmla="*/ 1074 w 329115"/>
              <a:gd name="connsiteY1" fmla="*/ 180880 h 451320"/>
              <a:gd name="connsiteX2" fmla="*/ 105563 w 329115"/>
              <a:gd name="connsiteY2" fmla="*/ 222218 h 451320"/>
              <a:gd name="connsiteX3" fmla="*/ 105563 w 329115"/>
              <a:gd name="connsiteY3" fmla="*/ 224219 h 451320"/>
              <a:gd name="connsiteX4" fmla="*/ 1074 w 329115"/>
              <a:gd name="connsiteY4" fmla="*/ 272320 h 451320"/>
              <a:gd name="connsiteX5" fmla="*/ 0 w 329115"/>
              <a:gd name="connsiteY5" fmla="*/ 451320 h 451320"/>
              <a:gd name="connsiteX6" fmla="*/ 329115 w 329115"/>
              <a:gd name="connsiteY6" fmla="*/ 312896 h 451320"/>
              <a:gd name="connsiteX7" fmla="*/ 329115 w 329115"/>
              <a:gd name="connsiteY7" fmla="*/ 137446 h 451320"/>
              <a:gd name="connsiteX8" fmla="*/ 1074 w 329115"/>
              <a:gd name="connsiteY8" fmla="*/ 0 h 451320"/>
              <a:gd name="connsiteX0" fmla="*/ 1074 w 329115"/>
              <a:gd name="connsiteY0" fmla="*/ 0 h 450246"/>
              <a:gd name="connsiteX1" fmla="*/ 1074 w 329115"/>
              <a:gd name="connsiteY1" fmla="*/ 180880 h 450246"/>
              <a:gd name="connsiteX2" fmla="*/ 105563 w 329115"/>
              <a:gd name="connsiteY2" fmla="*/ 222218 h 450246"/>
              <a:gd name="connsiteX3" fmla="*/ 105563 w 329115"/>
              <a:gd name="connsiteY3" fmla="*/ 224219 h 450246"/>
              <a:gd name="connsiteX4" fmla="*/ 1074 w 329115"/>
              <a:gd name="connsiteY4" fmla="*/ 272320 h 450246"/>
              <a:gd name="connsiteX5" fmla="*/ 0 w 329115"/>
              <a:gd name="connsiteY5" fmla="*/ 450246 h 450246"/>
              <a:gd name="connsiteX6" fmla="*/ 329115 w 329115"/>
              <a:gd name="connsiteY6" fmla="*/ 312896 h 450246"/>
              <a:gd name="connsiteX7" fmla="*/ 329115 w 329115"/>
              <a:gd name="connsiteY7" fmla="*/ 137446 h 450246"/>
              <a:gd name="connsiteX8" fmla="*/ 1074 w 329115"/>
              <a:gd name="connsiteY8" fmla="*/ 0 h 450246"/>
              <a:gd name="connsiteX0" fmla="*/ 2147 w 330188"/>
              <a:gd name="connsiteY0" fmla="*/ 0 h 448099"/>
              <a:gd name="connsiteX1" fmla="*/ 2147 w 330188"/>
              <a:gd name="connsiteY1" fmla="*/ 180880 h 448099"/>
              <a:gd name="connsiteX2" fmla="*/ 106636 w 330188"/>
              <a:gd name="connsiteY2" fmla="*/ 222218 h 448099"/>
              <a:gd name="connsiteX3" fmla="*/ 106636 w 330188"/>
              <a:gd name="connsiteY3" fmla="*/ 224219 h 448099"/>
              <a:gd name="connsiteX4" fmla="*/ 2147 w 330188"/>
              <a:gd name="connsiteY4" fmla="*/ 272320 h 448099"/>
              <a:gd name="connsiteX5" fmla="*/ 0 w 330188"/>
              <a:gd name="connsiteY5" fmla="*/ 448099 h 448099"/>
              <a:gd name="connsiteX6" fmla="*/ 330188 w 330188"/>
              <a:gd name="connsiteY6" fmla="*/ 312896 h 448099"/>
              <a:gd name="connsiteX7" fmla="*/ 330188 w 330188"/>
              <a:gd name="connsiteY7" fmla="*/ 137446 h 448099"/>
              <a:gd name="connsiteX8" fmla="*/ 2147 w 330188"/>
              <a:gd name="connsiteY8" fmla="*/ 0 h 448099"/>
            </a:gdLst>
            <a:rect l="l" t="t" r="r" b="b"/>
            <a:pathLst>
              <a:path w="330188" h="448099">
                <a:moveTo>
                  <a:pt x="2147" y="0"/>
                </a:moveTo>
                <a:lnTo>
                  <a:pt x="2147" y="180880"/>
                </a:lnTo>
                <a:lnTo>
                  <a:pt x="106636" y="222218"/>
                </a:lnTo>
                <a:lnTo>
                  <a:pt x="106636" y="224219"/>
                </a:lnTo>
                <a:lnTo>
                  <a:pt x="2147" y="272320"/>
                </a:lnTo>
                <a:cubicBezTo>
                  <a:pt x="1431" y="330913"/>
                  <a:pt x="716" y="389506"/>
                  <a:pt x="0" y="448099"/>
                </a:cubicBezTo>
                <a:lnTo>
                  <a:pt x="330188" y="312896"/>
                </a:lnTo>
                <a:lnTo>
                  <a:pt x="330188" y="137446"/>
                </a:lnTo>
                <a:lnTo>
                  <a:pt x="2147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53975">
            <a:solidFill>
              <a:srgbClr val="F8690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1209036C-5185-DD17-7D50-4E0CC012239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221285" y="4691748"/>
            <a:ext cx="698246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2B6D1A59-9771-B443-841D-948A4D7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51" y="305748"/>
            <a:ext cx="228594" cy="502574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reeform 8">
            <a:extLst xmlns:a="http://schemas.openxmlformats.org/drawingml/2006/main">
              <a:ext uri="{FF2B5EF4-FFF2-40B4-BE49-F238E27FC236}">
                <a16:creationId xmlns:a16="http://schemas.microsoft.com/office/drawing/2014/main" id="{F01FA49E-24E5-91B6-62B7-C747990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065" y="306225"/>
            <a:ext cx="470185" cy="502455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942084D0-C42A-9E19-241F-E0FBEAD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177" y="305708"/>
            <a:ext cx="498640" cy="502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30785" y="2512134"/>
            <a:ext cx="7172967" cy="1465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Presentation Title</a:t>
            </a: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E7FA92C6-DCCE-F36A-8392-7FE6F6B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5" y="1145059"/>
            <a:ext cx="3045129" cy="4179526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99AE78D-F503-487D-C497-E7EB57A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996" y="3774363"/>
            <a:ext cx="2007789" cy="2733119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  <a:gd name="connsiteX0" fmla="*/ 4294 w 332335"/>
              <a:gd name="connsiteY0" fmla="*/ 0 h 452394"/>
              <a:gd name="connsiteX1" fmla="*/ 4294 w 332335"/>
              <a:gd name="connsiteY1" fmla="*/ 180880 h 452394"/>
              <a:gd name="connsiteX2" fmla="*/ 108783 w 332335"/>
              <a:gd name="connsiteY2" fmla="*/ 222218 h 452394"/>
              <a:gd name="connsiteX3" fmla="*/ 108783 w 332335"/>
              <a:gd name="connsiteY3" fmla="*/ 224219 h 452394"/>
              <a:gd name="connsiteX4" fmla="*/ 4294 w 332335"/>
              <a:gd name="connsiteY4" fmla="*/ 272320 h 452394"/>
              <a:gd name="connsiteX5" fmla="*/ 0 w 332335"/>
              <a:gd name="connsiteY5" fmla="*/ 452394 h 452394"/>
              <a:gd name="connsiteX6" fmla="*/ 332335 w 332335"/>
              <a:gd name="connsiteY6" fmla="*/ 312896 h 452394"/>
              <a:gd name="connsiteX7" fmla="*/ 332335 w 332335"/>
              <a:gd name="connsiteY7" fmla="*/ 137446 h 452394"/>
              <a:gd name="connsiteX8" fmla="*/ 4294 w 332335"/>
              <a:gd name="connsiteY8" fmla="*/ 0 h 452394"/>
            </a:gdLst>
            <a:rect l="l" t="t" r="r" b="b"/>
            <a:pathLst>
              <a:path w="332335" h="452394">
                <a:moveTo>
                  <a:pt x="4294" y="0"/>
                </a:moveTo>
                <a:lnTo>
                  <a:pt x="4294" y="180880"/>
                </a:lnTo>
                <a:lnTo>
                  <a:pt x="108783" y="222218"/>
                </a:lnTo>
                <a:lnTo>
                  <a:pt x="108783" y="224219"/>
                </a:lnTo>
                <a:lnTo>
                  <a:pt x="4294" y="272320"/>
                </a:lnTo>
                <a:cubicBezTo>
                  <a:pt x="2863" y="332345"/>
                  <a:pt x="1431" y="392369"/>
                  <a:pt x="0" y="452394"/>
                </a:cubicBezTo>
                <a:lnTo>
                  <a:pt x="332335" y="312896"/>
                </a:lnTo>
                <a:lnTo>
                  <a:pt x="332335" y="137446"/>
                </a:ln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53975">
            <a:solidFill>
              <a:srgbClr val="F8690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1209036C-5185-DD17-7D50-4E0CC012239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221285" y="4691748"/>
            <a:ext cx="698246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2B6D1A59-9771-B443-841D-948A4D7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51" y="305748"/>
            <a:ext cx="228594" cy="502574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reeform 8">
            <a:extLst xmlns:a="http://schemas.openxmlformats.org/drawingml/2006/main">
              <a:ext uri="{FF2B5EF4-FFF2-40B4-BE49-F238E27FC236}">
                <a16:creationId xmlns:a16="http://schemas.microsoft.com/office/drawing/2014/main" id="{F01FA49E-24E5-91B6-62B7-C747990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065" y="306225"/>
            <a:ext cx="470185" cy="502455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942084D0-C42A-9E19-241F-E0FBEAD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177" y="305708"/>
            <a:ext cx="498640" cy="502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Quote 3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416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678053" y="1598264"/>
            <a:ext cx="15402453" cy="18003624"/>
          </a:xfrm>
          <a:custGeom xmlns:a="http://schemas.openxmlformats.org/drawingml/2006/main"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itle 1">
            <a:extLst xmlns:a="http://schemas.openxmlformats.org/drawingml/2006/main"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050683" y="1242190"/>
            <a:ext cx="10515600" cy="798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5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348" y="1598264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1587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262901" y="3134812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1587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A7240D7-6C7A-F304-9613-8EBC03CFD24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787706" y="4081985"/>
            <a:ext cx="7112350" cy="730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rgbClr val="F86901"/>
                </a:solidFill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- Attribution</a:t>
            </a:r>
          </a:p>
          <a:p xmlns:a="http://schemas.openxmlformats.org/drawingml/2006/main">
            <a:pPr lvl="0">
              <a:buNone/>
            </a:pPr>
            <a:r>
              <a:t>  Second line here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7080F939-67EC-3164-6FF1-613A3C6EDCE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313875" y="2361867"/>
            <a:ext cx="9504362" cy="1561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Quote here quote here</a:t>
            </a:r>
            <a:br/>
            <a:r>
              <a:t>quote here.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07C1A9-8DEE-5D01-22C6-1B22D190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0735"/>
            <a:ext cx="12192000" cy="66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39F8B8-3461-FDE9-47B4-2C48BE43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60308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rgbClr val="E56B2A"/>
                </a:solidFill>
                <a:latin typeface="Georgia"/>
                <a:ea typeface="Georgia"/>
                <a:cs typeface="Georgia"/>
              </a:rPr>
              <a:t> </a:t>
            </a:r>
            <a:fld id="{C298B9C6-6335-E144-BEC4-C3E3E075D758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8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2b3db1f2a44f2">
            <a:extLst>
              <a:ext uri="{96DAC541-7B7A-43D3-8B79-37D633B846F1}">
                <asvg:svgBlip xmlns:asvg="http://schemas.microsoft.com/office/drawing/2016/SVG/main" r:embed="R795d0823abd042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9726" y="6431732"/>
            <a:ext cx="2700733" cy="240066"/>
          </a:xfrm>
          <a:prstGeom xmlns:a="http://schemas.openxmlformats.org/drawingml/2006/main" prst="rect">
            <a:avLst/>
          </a:prstGeom>
        </p:spPr>
      </p:pic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BF7721F-605E-6BE2-BB49-B7AC534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8" y="6386527"/>
            <a:ext cx="137177" cy="301590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A52427D-4DF3-7A7D-550C-CA099DA2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743" y="6386813"/>
            <a:ext cx="282153" cy="301519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3644D8D-B323-27A4-162C-5813323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133" y="6386503"/>
            <a:ext cx="299229" cy="301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Quote 3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678053" y="1592402"/>
            <a:ext cx="15402453" cy="18003624"/>
          </a:xfrm>
          <a:custGeom xmlns:a="http://schemas.openxmlformats.org/drawingml/2006/main"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itle 1">
            <a:extLst xmlns:a="http://schemas.openxmlformats.org/drawingml/2006/main"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050683" y="1242190"/>
            <a:ext cx="10515600" cy="798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5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348" y="1598264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587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262901" y="3134812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587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FAC6E3F-1E7F-BA3D-8683-ABD97C32F54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787706" y="4081985"/>
            <a:ext cx="7112350" cy="730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- Attribution</a:t>
            </a:r>
          </a:p>
          <a:p xmlns:a="http://schemas.openxmlformats.org/drawingml/2006/main">
            <a:pPr lvl="0">
              <a:buNone/>
            </a:pPr>
            <a:r>
              <a:t>  Second line here</a:t>
            </a:r>
          </a:p>
        </p:txBody>
      </p:sp>
      <p:sp>
        <p:nvSpPr>
          <p:cNvPr id="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FA8FBE3-8302-3E7C-861F-7CACD69AFA5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313875" y="2361867"/>
            <a:ext cx="9504362" cy="1561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Quote here quote here</a:t>
            </a:r>
            <a:br/>
            <a:r>
              <a:t>quote here.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63642F2-923D-7AFF-0EDA-BE950B9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0735"/>
            <a:ext cx="12192000" cy="66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B002BF7-9FC0-5845-70CB-6BD69E0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60308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rgbClr val="E56B2A"/>
                </a:solidFill>
                <a:latin typeface="Georgia"/>
                <a:ea typeface="Georgia"/>
                <a:cs typeface="Georgia"/>
              </a:rPr>
              <a:t> </a:t>
            </a:r>
            <a:fld id="{C298B9C6-6335-E144-BEC4-C3E3E075D758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2" name="Graphic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730bbd4e04276">
            <a:extLst>
              <a:ext uri="{96DAC541-7B7A-43D3-8B79-37D633B846F1}">
                <asvg:svgBlip xmlns:asvg="http://schemas.microsoft.com/office/drawing/2016/SVG/main" r:embed="R484fff2f233a4f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9726" y="6431732"/>
            <a:ext cx="2700733" cy="240066"/>
          </a:xfrm>
          <a:prstGeom xmlns:a="http://schemas.openxmlformats.org/drawingml/2006/main" prst="rect">
            <a:avLst/>
          </a:prstGeom>
        </p:spPr>
      </p:pic>
      <p:sp>
        <p:nvSpPr>
          <p:cNvPr id="2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42EC2FEF-EC80-432B-B9E8-26C70C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8" y="6386527"/>
            <a:ext cx="137177" cy="301590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F339AFC-DE29-B5CB-3E89-AE0F9989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743" y="6386813"/>
            <a:ext cx="282153" cy="301519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30">
            <a:extLst xmlns:a="http://schemas.openxmlformats.org/drawingml/2006/main">
              <a:ext uri="{FF2B5EF4-FFF2-40B4-BE49-F238E27FC236}">
                <a16:creationId xmlns:a16="http://schemas.microsoft.com/office/drawing/2014/main" id="{80585BE3-FDC1-C632-0841-89E558E3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133" y="6386503"/>
            <a:ext cx="299229" cy="301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Quote 3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678053" y="1598264"/>
            <a:ext cx="15402453" cy="18003624"/>
          </a:xfrm>
          <a:custGeom xmlns:a="http://schemas.openxmlformats.org/drawingml/2006/main"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itle 1">
            <a:extLst xmlns:a="http://schemas.openxmlformats.org/drawingml/2006/main"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050683" y="1242190"/>
            <a:ext cx="10515600" cy="798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5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348" y="1598264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75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262901" y="3134812"/>
            <a:ext cx="637155" cy="572539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75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C12E987-4255-261E-4857-D0998121FDB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787706" y="4081985"/>
            <a:ext cx="7112350" cy="730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- Attribution</a:t>
            </a:r>
          </a:p>
          <a:p xmlns:a="http://schemas.openxmlformats.org/drawingml/2006/main">
            <a:pPr lvl="0">
              <a:buNone/>
            </a:pPr>
            <a:r>
              <a:t>  Second line here</a:t>
            </a:r>
          </a:p>
        </p:txBody>
      </p:sp>
      <p:sp>
        <p:nvSpPr>
          <p:cNvPr id="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6EAEC04A-8168-A6CA-A58D-807394D8057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313875" y="2361867"/>
            <a:ext cx="9504362" cy="1561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Quote here quote here</a:t>
            </a:r>
            <a:br/>
            <a:r>
              <a:t>quote here.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C8B83-BE7E-9615-5A3B-7A4471C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0735"/>
            <a:ext cx="12192000" cy="66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144FF1-77AA-A55E-D393-22E6CA16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60308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rgbClr val="E56B2A"/>
                </a:solidFill>
                <a:latin typeface="Georgia"/>
                <a:ea typeface="Georgia"/>
                <a:cs typeface="Georgia"/>
              </a:rPr>
              <a:t> </a:t>
            </a:r>
            <a:fld id="{C298B9C6-6335-E144-BEC4-C3E3E075D758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2" name="Graphic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67f222a674b4d">
            <a:extLst>
              <a:ext uri="{96DAC541-7B7A-43D3-8B79-37D633B846F1}">
                <asvg:svgBlip xmlns:asvg="http://schemas.microsoft.com/office/drawing/2016/SVG/main" r:embed="Rc213e38618d049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9726" y="6431732"/>
            <a:ext cx="2700733" cy="240066"/>
          </a:xfrm>
          <a:prstGeom xmlns:a="http://schemas.openxmlformats.org/drawingml/2006/main" prst="rect">
            <a:avLst/>
          </a:prstGeom>
        </p:spPr>
      </p:pic>
      <p:sp>
        <p:nvSpPr>
          <p:cNvPr id="2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6247416-B7D5-76FE-BC95-6E4347A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8" y="6386527"/>
            <a:ext cx="137177" cy="301590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06C4959-B47A-FB5B-EA9B-07A4A27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743" y="6386813"/>
            <a:ext cx="282153" cy="301519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3D2C883-A7A8-4B8F-ED42-8F42C22A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133" y="6386503"/>
            <a:ext cx="299229" cy="301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Layout 2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3C1A0075-3CF1-E01C-31E0-1FBE0172512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51747" y="405610"/>
            <a:ext cx="8578244" cy="6936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3" name="Freeform 2">
            <a:extLst xmlns:a="http://schemas.openxmlformats.org/drawingml/2006/main">
              <a:ext uri="{FF2B5EF4-FFF2-40B4-BE49-F238E27FC236}">
                <a16:creationId xmlns:a16="http://schemas.microsoft.com/office/drawing/2014/main" id="{17600C7E-15D1-308C-0664-EEB87FE8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385" y="1017046"/>
            <a:ext cx="2616783" cy="3591612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DC4CCCCF-BF73-ED7F-4FCF-0073F60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174" y="4083980"/>
            <a:ext cx="1423227" cy="20450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Layout 2 Header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8B6D1423-D49E-163F-B784-15DF100B84A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51747" y="405610"/>
            <a:ext cx="11275654" cy="6936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D8332B6F-FEE3-EA9A-8639-3D520532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174" y="4083980"/>
            <a:ext cx="1423227" cy="20450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6C8A62B2-C4CF-B9FE-B10E-FB470356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385" y="1017046"/>
            <a:ext cx="2616783" cy="3591612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6D8BDFE-1959-5196-8C9B-F1EC944853E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07077" y="1230203"/>
            <a:ext cx="11320324" cy="480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rgbClr val="F8690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  <p:sp>
        <p:nvSpPr>
          <p:cNvPr id="10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1D05A8BD-8629-5226-AE76-DDFA0A15726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51747" y="1841639"/>
            <a:ext cx="11275654" cy="3475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Layout 3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99A3E71-2C0D-53E5-6E0A-6BE2AA9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64" y="3889058"/>
            <a:ext cx="1423227" cy="20450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BD91EBA2-93E9-8E33-BE83-4A89A0AF9DB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86786" y="445665"/>
            <a:ext cx="4715301" cy="1273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F51D67B-FA25-5E55-6C4D-158DE9717AC5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5283199" y="445665"/>
            <a:ext cx="6578837" cy="463990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2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0F80D34B-9C3E-19CF-B3C4-DD8B4D959A5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29965" y="2299452"/>
            <a:ext cx="4732366" cy="2042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CCE6BE7-4144-5A12-2FAB-38E3AF25E42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29966" y="1780460"/>
            <a:ext cx="4732364" cy="500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Layout 3 Header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BD91EBA2-93E9-8E33-BE83-4A89A0AF9DB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86786" y="449440"/>
            <a:ext cx="4675544" cy="1192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14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8CC72C10-EE02-8D75-B19D-C878C9EA7B99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5283199" y="445665"/>
            <a:ext cx="6578837" cy="463990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EB374A0-BAF0-6FBA-9E04-AEDF7CA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64" y="3889058"/>
            <a:ext cx="1423227" cy="20450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39038C5B-C10C-5224-E174-120B659FF80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29965" y="2299452"/>
            <a:ext cx="4732366" cy="2042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67FE1EF-023D-42C8-E06C-196CA25A363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29966" y="1780460"/>
            <a:ext cx="4732364" cy="500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Layout 4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4CE58D56-A7C3-C816-9788-5167B3ABBF67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4000501" y="434090"/>
            <a:ext cx="7861300" cy="53500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E0ABF5C-1E2B-17DA-426D-605D20EDBF0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86787" y="434090"/>
            <a:ext cx="3328870" cy="121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Layout 4 Header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4CE58D56-A7C3-C816-9788-5167B3ABBF67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4000501" y="434090"/>
            <a:ext cx="7861300" cy="53500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E0ABF5C-1E2B-17DA-426D-605D20EDBF0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86787" y="434090"/>
            <a:ext cx="3328870" cy="11399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3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0BC48C6C-7B58-95E3-9142-49916CC34D4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29965" y="2299452"/>
            <a:ext cx="3511785" cy="2042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C1F7F55-BE4B-16C2-B6F0-8149F2219F7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29966" y="1780460"/>
            <a:ext cx="3511784" cy="500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Layout 4 Header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E0ABF5C-1E2B-17DA-426D-605D20EDBF0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68798" y="223735"/>
            <a:ext cx="11302339" cy="649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  <p:sp>
        <p:nvSpPr>
          <p:cNvPr id="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D0D49D2-D3A7-3522-6570-833AD6E66A45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268798" y="979294"/>
            <a:ext cx="11777685" cy="4990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_Full Photo with White Border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272085" y="1237844"/>
            <a:ext cx="11742706" cy="48217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29B5686-5C5D-5093-6410-36E57191B51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51747" y="405610"/>
            <a:ext cx="8578244" cy="6936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Main Header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Full Photo with White Border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272085" y="279828"/>
            <a:ext cx="11742706" cy="50413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Full Photo With Bar On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0" y="0"/>
            <a:ext cx="12192000" cy="6189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27643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8252"/>
            <a:ext cx="12276438" cy="66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87825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 </a:t>
            </a:r>
            <a:fld id="{606D2650-017B-BC48-A893-0334FE68CCF7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f5a6ec60146e2">
            <a:extLst>
              <a:ext uri="{96DAC541-7B7A-43D3-8B79-37D633B846F1}">
                <asvg:svgBlip xmlns:asvg="http://schemas.microsoft.com/office/drawing/2016/SVG/main" r:embed="R629614dadf464b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9726" y="6459249"/>
            <a:ext cx="2700733" cy="240066"/>
          </a:xfrm>
          <a:prstGeom xmlns:a="http://schemas.openxmlformats.org/drawingml/2006/main" prst="rect">
            <a:avLst/>
          </a:prstGeom>
        </p:spPr>
      </p:pic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E74CFF7-3A06-6BF7-EAA8-6A1A28A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8" y="6414044"/>
            <a:ext cx="137177" cy="301590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A32339A-C4C6-61D7-FA6F-0BD3E87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743" y="6414330"/>
            <a:ext cx="282153" cy="301519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E767C66-0B73-5220-D503-FE895FB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133" y="6414020"/>
            <a:ext cx="299229" cy="301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-25060" y="0"/>
            <a:ext cx="12301498" cy="69130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Two Photos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B03AC660-24DF-FD68-3B1E-272178BF49AE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6256867" y="270163"/>
            <a:ext cx="5734242" cy="565262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  <p:sp>
        <p:nvSpPr>
          <p:cNvPr id="11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88DFB79F-5F0C-4A8E-7949-7A3D3813DBEB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272085" y="269868"/>
            <a:ext cx="5741726" cy="5652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r>
              <a:t>Place image/chart here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Double Text Boxes Header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7E8304-128C-09EE-5528-B63BF8F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1896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Double Text Boxes Bottom Refer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7FA48B57-F016-1F1E-9A63-97C979903F9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26717" y="504162"/>
            <a:ext cx="5534933" cy="121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</a:t>
            </a:r>
            <a:br/>
            <a:r>
              <a:t>add header</a:t>
            </a:r>
          </a:p>
        </p:txBody>
      </p:sp>
      <p:sp>
        <p:nvSpPr>
          <p:cNvPr id="2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88BFE9E8-20DE-563F-F6E7-1CBCF282CD5E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26716" y="2299452"/>
            <a:ext cx="5534932" cy="2042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43234EBD-EBE2-0CFC-926A-6E1B660C1B3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26717" y="1780460"/>
            <a:ext cx="5534930" cy="500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74647E5-02A8-A149-F87A-B60242D0923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255725" y="1780460"/>
            <a:ext cx="5619750" cy="500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subhead</a:t>
            </a:r>
          </a:p>
        </p:txBody>
      </p:sp>
      <p:sp>
        <p:nvSpPr>
          <p:cNvPr id="5" name="Text Placeholder 25">
            <a:extLst xmlns:a="http://schemas.openxmlformats.org/drawingml/2006/main">
              <a:ext uri="{FF2B5EF4-FFF2-40B4-BE49-F238E27FC236}">
                <a16:creationId xmlns:a16="http://schemas.microsoft.com/office/drawing/2014/main" id="{3877FFD2-2E14-1EC5-DAF6-F3A4121108CC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73034" y="2299452"/>
            <a:ext cx="5619750" cy="2042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F86901"/>
              </a:buClr>
              <a:buSzPct val="100000"/>
              <a:buFont typeface="Wingdings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/>
              <a:buChar char="§"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48CC9754-3E2D-B12A-4DA1-A2337FAE20DF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48663" y="453047"/>
            <a:ext cx="5619750" cy="1218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0"/>
              </a:spcBef>
              <a:buNone/>
              <a:defRPr sz="4400" b="1"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br/>
            <a:r>
              <a:t>add header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6E2BB2-2603-2C22-3615-D919566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24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itle 1">
            <a:extLst xmlns:a="http://schemas.openxmlformats.org/drawingml/2006/main">
              <a:ext uri="{FF2B5EF4-FFF2-40B4-BE49-F238E27FC236}">
                <a16:creationId xmlns:a16="http://schemas.microsoft.com/office/drawing/2014/main" id="{96C7D57A-FE50-02D3-C435-AE0C11566CE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59107" y="2099474"/>
            <a:ext cx="9443797" cy="901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  <p:sp>
        <p:nvSpPr>
          <p:cNvPr id="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A62AE54-99B1-4EA8-A464-E44DF6FE0FD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259106" y="3173141"/>
            <a:ext cx="944379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33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498DF9B-F51A-927D-3B64-8B3122A6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17" y="1858384"/>
            <a:ext cx="1112635" cy="15271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3810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59107" y="2099474"/>
            <a:ext cx="9443797" cy="901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  <p:sp>
        <p:nvSpPr>
          <p:cNvPr id="11" name="Subtitle 2">
            <a:extLst xmlns:a="http://schemas.openxmlformats.org/drawingml/2006/main">
              <a:ext uri="{FF2B5EF4-FFF2-40B4-BE49-F238E27FC236}">
                <a16:creationId xmlns:a16="http://schemas.microsoft.com/office/drawing/2014/main" id="{350E98CC-7296-2F49-FAD0-8B8680C0D6D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259106" y="3173141"/>
            <a:ext cx="944379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3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BD5F56-7117-F460-9D63-19241DB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17" y="1858384"/>
            <a:ext cx="1112635" cy="15271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3810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ransition Slide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6E2BB2-2603-2C22-3615-D919566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189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BD5F56-7117-F460-9D63-19241DB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17" y="1858384"/>
            <a:ext cx="1112635" cy="15271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E9019911-3101-4071-7FD1-6572EB4897B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59107" y="2099474"/>
            <a:ext cx="9443797" cy="901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8D25424B-5E07-E130-AE1E-F0D167B6348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259106" y="3173141"/>
            <a:ext cx="944379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03E112-4052-8F19-9689-7742E26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87825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 </a:t>
            </a:r>
            <a:fld id="{606D2650-017B-BC48-A893-0334FE68CCF7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Transition Slide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6E2BB2-2603-2C22-3615-D919566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195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914A582F-3CA0-5E4F-22A6-2D5B3AE4937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59107" y="2099474"/>
            <a:ext cx="9443797" cy="901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299D5681-9713-D654-AE1A-C0DD474F16D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259106" y="3173141"/>
            <a:ext cx="944379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  <p:sp>
        <p:nvSpPr>
          <p:cNvPr id="1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7862D92-0CC2-F9C1-C6F8-44384F92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17" y="1858384"/>
            <a:ext cx="1112635" cy="15271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3810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1F9ADE4-2785-7E72-BCDC-6034C6F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87825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 </a:t>
            </a:r>
            <a:fld id="{606D2650-017B-BC48-A893-0334FE68CCF7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Transition Slide 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BD5F56-7117-F460-9D63-19241DB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17" y="1858384"/>
            <a:ext cx="1112635" cy="152712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3810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E3CF1894-D9A4-5781-50B4-2B4E4495F26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59107" y="2099474"/>
            <a:ext cx="9443797" cy="901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buNone/>
              <a:defRPr sz="4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1AC21F29-F574-BE81-1A36-B7B9169F98D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259106" y="3173141"/>
            <a:ext cx="9443797" cy="88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Subhead        </a:t>
            </a:r>
          </a:p>
          <a:p xmlns:a="http://schemas.openxmlformats.org/drawingml/2006/main">
            <a:r>
              <a:t>Click to add date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Transition Slide Orange Bkgnd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189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33A7D6C6-F021-6935-B706-29FA3A4ECA6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66700" y="2361489"/>
            <a:ext cx="11188699" cy="8178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Transition Slide Grey Bkgnd Header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" y="0"/>
            <a:ext cx="12192000" cy="6195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33A7D6C6-F021-6935-B706-29FA3A4ECA6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02133" y="2361489"/>
            <a:ext cx="11486993" cy="8178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Transition Header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1_Section Header or End Slide Option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c33a99a4946bb"/>
          <a:srcRect xmlns:a="http://schemas.openxmlformats.org/drawingml/2006/main" l="0" t="0" r="0" b="9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190735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273912-7F86-0444-298A-53C38B8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27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2B51B35-84BB-8930-94AF-C46DB801910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-3802" y="194028"/>
            <a:ext cx="12199605" cy="7112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rgbClr val="F86901"/>
                </a:solidFill>
              </a:defRPr>
            </a:lvl1pPr>
          </a:lstStyle>
          <a:p xmlns:a="http://schemas.openxmlformats.org/drawingml/2006/main">
            <a:r>
              <a:t>Click to add Section Title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1_Section Header or End Slide Option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c1b9549d647b8"/>
          <a:srcRect xmlns:a="http://schemas.openxmlformats.org/drawingml/2006/main" l="0" t="0" r="0" b="7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217193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23B444B-A448-2DCC-D7AA-5291F56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27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-3802" y="194028"/>
            <a:ext cx="12199605" cy="7112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rgbClr val="F86901"/>
                </a:solidFill>
              </a:defRPr>
            </a:lvl1pPr>
          </a:lstStyle>
          <a:p xmlns:a="http://schemas.openxmlformats.org/drawingml/2006/main">
            <a:r>
              <a:t>Click to add Section Title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Section Slide or End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82280e4f942fb"/>
          <a:srcRect xmlns:a="http://schemas.openxmlformats.org/drawingml/2006/main" l="1" t="0" r="1" b="23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190734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23B444B-A448-2DCC-D7AA-5291F56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160"/>
            <a:ext cx="12192000" cy="1062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81160"/>
            <a:ext cx="12188952" cy="1062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Section Title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Brand Elem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25DB803-D994-ED16-6B14-948EF0CF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161" y="2811796"/>
            <a:ext cx="1195152" cy="1073947"/>
          </a:xfrm>
          <a:custGeom xmlns:a="http://schemas.openxmlformats.org/drawingml/2006/main"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22F2F27-0698-7527-A070-E16863D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515" y="2689478"/>
            <a:ext cx="1077604" cy="1479043"/>
          </a:xfrm>
          <a:custGeom xmlns:a="http://schemas.openxmlformats.org/drawingml/2006/main"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 xmlns:a="http://schemas.openxmlformats.org/drawingml/2006/main">
            <a:srgbClr val="FF6B00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2290EC4-2EC3-C6C1-42A7-05E62F9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8" y="2023733"/>
            <a:ext cx="2652206" cy="2675039"/>
          </a:xfrm>
          <a:custGeom xmlns:a="http://schemas.openxmlformats.org/drawingml/2006/main"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 xmlns:a="http://schemas.openxmlformats.org/drawingml/2006/main">
            <a:srgbClr val="F8690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0c0976514a146e3" /><Relationship Type="http://schemas.openxmlformats.org/officeDocument/2006/relationships/image" Target="/ppt/media/image.svg" Id="Rf51ca0c2f4b54098" /><Relationship Type="http://schemas.openxmlformats.org/officeDocument/2006/relationships/theme" Target="/ppt/slideMasters/theme/theme2.xml" Id="R22d5483baede4a06" /><Relationship Type="http://schemas.openxmlformats.org/officeDocument/2006/relationships/slideLayout" Target="/ppt/slideLayouts/slideLayout1.xml" Id="Rc359837008654956" /><Relationship Type="http://schemas.openxmlformats.org/officeDocument/2006/relationships/slideLayout" Target="/ppt/slideLayouts/slideLayout2.xml" Id="R8c8d427197ee462e" /><Relationship Type="http://schemas.openxmlformats.org/officeDocument/2006/relationships/slideLayout" Target="/ppt/slideLayouts/slideLayout3.xml" Id="R2736feff360945c3" /><Relationship Type="http://schemas.openxmlformats.org/officeDocument/2006/relationships/slideLayout" Target="/ppt/slideLayouts/slideLayout4.xml" Id="R8183839213f6498d" /><Relationship Type="http://schemas.openxmlformats.org/officeDocument/2006/relationships/slideLayout" Target="/ppt/slideLayouts/slideLayout5.xml" Id="R8d8873ff3c994521" /><Relationship Type="http://schemas.openxmlformats.org/officeDocument/2006/relationships/slideLayout" Target="/ppt/slideLayouts/slideLayout6.xml" Id="R9b72bc9d4b2641b8" /><Relationship Type="http://schemas.openxmlformats.org/officeDocument/2006/relationships/slideLayout" Target="/ppt/slideLayouts/slideLayout7.xml" Id="Rf7c943fed68b41c2" /><Relationship Type="http://schemas.openxmlformats.org/officeDocument/2006/relationships/slideLayout" Target="/ppt/slideLayouts/slideLayout8.xml" Id="R0578ba66a09f4e9f" /><Relationship Type="http://schemas.openxmlformats.org/officeDocument/2006/relationships/slideLayout" Target="/ppt/slideLayouts/slideLayout9.xml" Id="R19201dd2a5f64219" /><Relationship Type="http://schemas.openxmlformats.org/officeDocument/2006/relationships/slideLayout" Target="/ppt/slideLayouts/slideLayout10.xml" Id="R739659bbcc6b456d" /><Relationship Type="http://schemas.openxmlformats.org/officeDocument/2006/relationships/slideLayout" Target="/ppt/slideLayouts/slideLayout11.xml" Id="R8c5706f6b87340d1" /><Relationship Type="http://schemas.openxmlformats.org/officeDocument/2006/relationships/slideLayout" Target="/ppt/slideLayouts/slideLayout12.xml" Id="R2be8907b9dbd4c18" /><Relationship Type="http://schemas.openxmlformats.org/officeDocument/2006/relationships/slideLayout" Target="/ppt/slideLayouts/slideLayout13.xml" Id="R91d586f6f83b48b6" /><Relationship Type="http://schemas.openxmlformats.org/officeDocument/2006/relationships/slideLayout" Target="/ppt/slideLayouts/slideLayout14.xml" Id="R56d55773957646da" /><Relationship Type="http://schemas.openxmlformats.org/officeDocument/2006/relationships/slideLayout" Target="/ppt/slideLayouts/slideLayout15.xml" Id="Ra6719eeddcf94abe" /><Relationship Type="http://schemas.openxmlformats.org/officeDocument/2006/relationships/slideLayout" Target="/ppt/slideLayouts/slideLayout16.xml" Id="Rb960d470b6d54dec" /><Relationship Type="http://schemas.openxmlformats.org/officeDocument/2006/relationships/slideLayout" Target="/ppt/slideLayouts/slideLayout17.xml" Id="Rf1e99cd4b5174033" /><Relationship Type="http://schemas.openxmlformats.org/officeDocument/2006/relationships/slideLayout" Target="/ppt/slideLayouts/slideLayout18.xml" Id="Rccd90b0f6bf64111" /><Relationship Type="http://schemas.openxmlformats.org/officeDocument/2006/relationships/slideLayout" Target="/ppt/slideLayouts/slideLayout19.xml" Id="Ra58f8aa812544519" /><Relationship Type="http://schemas.openxmlformats.org/officeDocument/2006/relationships/slideLayout" Target="/ppt/slideLayouts/slideLayout20.xml" Id="Rc74d93b0835142e9" /><Relationship Type="http://schemas.openxmlformats.org/officeDocument/2006/relationships/slideLayout" Target="/ppt/slideLayouts/slideLayout21.xml" Id="R0e5e05d235334be5" /><Relationship Type="http://schemas.openxmlformats.org/officeDocument/2006/relationships/slideLayout" Target="/ppt/slideLayouts/slideLayout22.xml" Id="Rf35df00d31204eea" /><Relationship Type="http://schemas.openxmlformats.org/officeDocument/2006/relationships/slideLayout" Target="/ppt/slideLayouts/slideLayout23.xml" Id="R05ca7845844344a8" /><Relationship Type="http://schemas.openxmlformats.org/officeDocument/2006/relationships/slideLayout" Target="/ppt/slideLayouts/slideLayout24.xml" Id="Rf067d503b1884a6d" /><Relationship Type="http://schemas.openxmlformats.org/officeDocument/2006/relationships/slideLayout" Target="/ppt/slideLayouts/slideLayout25.xml" Id="R053fa344e93f4163" /><Relationship Type="http://schemas.openxmlformats.org/officeDocument/2006/relationships/slideLayout" Target="/ppt/slideLayouts/slideLayout26.xml" Id="R72c22b10ae0e4204" /><Relationship Type="http://schemas.openxmlformats.org/officeDocument/2006/relationships/slideLayout" Target="/ppt/slideLayouts/slideLayout27.xml" Id="Rb8bd40dc428044c6" /><Relationship Type="http://schemas.openxmlformats.org/officeDocument/2006/relationships/slideLayout" Target="/ppt/slideLayouts/slideLayout28.xml" Id="R3e5cff9d822945f8" /><Relationship Type="http://schemas.openxmlformats.org/officeDocument/2006/relationships/slideLayout" Target="/ppt/slideLayouts/slideLayout29.xml" Id="R25a0a44957c24c4e" /><Relationship Type="http://schemas.openxmlformats.org/officeDocument/2006/relationships/slideLayout" Target="/ppt/slideLayouts/slideLayout30.xml" Id="R8ed76075511646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1241FE-5455-A291-4299-4D8ACC8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0735"/>
            <a:ext cx="12192000" cy="66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69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6C1D4DF-4382-661D-5047-A5BB2C46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126" y="6460308"/>
            <a:ext cx="477814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1200">
                <a:solidFill>
                  <a:srgbClr val="E56B2A"/>
                </a:solidFill>
                <a:latin typeface="Georgia"/>
                <a:ea typeface="Georgia"/>
                <a:cs typeface="Georgia"/>
              </a:rPr>
              <a:t> </a:t>
            </a:r>
            <a:fld id="{C298B9C6-6335-E144-BEC4-C3E3E075D758}" type="slidenum">
              <a:rPr sz="1133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1133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0976514a146e3">
            <a:extLst>
              <a:ext uri="{96DAC541-7B7A-43D3-8B79-37D633B846F1}">
                <asvg:svgBlip xmlns:asvg="http://schemas.microsoft.com/office/drawing/2016/SVG/main" r:embed="Rf51ca0c2f4b540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9726" y="6431732"/>
            <a:ext cx="2700733" cy="240066"/>
          </a:xfrm>
          <a:prstGeom xmlns:a="http://schemas.openxmlformats.org/drawingml/2006/main" prst="rect">
            <a:avLst/>
          </a:prstGeom>
        </p:spPr>
      </p:pic>
      <p:sp>
        <p:nvSpPr>
          <p:cNvPr id="3" name="Freeform 2">
            <a:extLst xmlns:a="http://schemas.openxmlformats.org/drawingml/2006/main">
              <a:ext uri="{FF2B5EF4-FFF2-40B4-BE49-F238E27FC236}">
                <a16:creationId xmlns:a16="http://schemas.microsoft.com/office/drawing/2014/main" id="{9071FB11-3FF3-4E00-AE91-7D19E88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8" y="6386527"/>
            <a:ext cx="137177" cy="301590"/>
          </a:xfrm>
          <a:custGeom xmlns:a="http://schemas.openxmlformats.org/drawingml/2006/main">
            <a:gdLst>
              <a:gd name="connsiteX0" fmla="*/ 393478 w 547877"/>
              <a:gd name="connsiteY0" fmla="*/ 129064 h 1204531"/>
              <a:gd name="connsiteX1" fmla="*/ 537686 w 547877"/>
              <a:gd name="connsiteY1" fmla="*/ 74771 h 1204531"/>
              <a:gd name="connsiteX2" fmla="*/ 547878 w 547877"/>
              <a:gd name="connsiteY2" fmla="*/ 74771 h 1204531"/>
              <a:gd name="connsiteX3" fmla="*/ 547878 w 547877"/>
              <a:gd name="connsiteY3" fmla="*/ 0 h 1204531"/>
              <a:gd name="connsiteX4" fmla="*/ 267938 w 547877"/>
              <a:gd name="connsiteY4" fmla="*/ 4667 h 1204531"/>
              <a:gd name="connsiteX5" fmla="*/ 0 w 547877"/>
              <a:gd name="connsiteY5" fmla="*/ 0 h 1204531"/>
              <a:gd name="connsiteX6" fmla="*/ 0 w 547877"/>
              <a:gd name="connsiteY6" fmla="*/ 74771 h 1204531"/>
              <a:gd name="connsiteX7" fmla="*/ 10192 w 547877"/>
              <a:gd name="connsiteY7" fmla="*/ 74771 h 1204531"/>
              <a:gd name="connsiteX8" fmla="*/ 154400 w 547877"/>
              <a:gd name="connsiteY8" fmla="*/ 128968 h 1204531"/>
              <a:gd name="connsiteX9" fmla="*/ 171640 w 547877"/>
              <a:gd name="connsiteY9" fmla="*/ 363188 h 1204531"/>
              <a:gd name="connsiteX10" fmla="*/ 171640 w 547877"/>
              <a:gd name="connsiteY10" fmla="*/ 841153 h 1204531"/>
              <a:gd name="connsiteX11" fmla="*/ 154496 w 547877"/>
              <a:gd name="connsiteY11" fmla="*/ 1075373 h 1204531"/>
              <a:gd name="connsiteX12" fmla="*/ 10192 w 547877"/>
              <a:gd name="connsiteY12" fmla="*/ 1129569 h 1204531"/>
              <a:gd name="connsiteX13" fmla="*/ 0 w 547877"/>
              <a:gd name="connsiteY13" fmla="*/ 1129569 h 1204531"/>
              <a:gd name="connsiteX14" fmla="*/ 0 w 547877"/>
              <a:gd name="connsiteY14" fmla="*/ 1204531 h 1204531"/>
              <a:gd name="connsiteX15" fmla="*/ 268224 w 547877"/>
              <a:gd name="connsiteY15" fmla="*/ 1197102 h 1204531"/>
              <a:gd name="connsiteX16" fmla="*/ 547878 w 547877"/>
              <a:gd name="connsiteY16" fmla="*/ 1204531 h 1204531"/>
              <a:gd name="connsiteX17" fmla="*/ 547878 w 547877"/>
              <a:gd name="connsiteY17" fmla="*/ 1129569 h 1204531"/>
              <a:gd name="connsiteX18" fmla="*/ 537686 w 547877"/>
              <a:gd name="connsiteY18" fmla="*/ 1129569 h 1204531"/>
              <a:gd name="connsiteX19" fmla="*/ 393478 w 547877"/>
              <a:gd name="connsiteY19" fmla="*/ 1075468 h 1204531"/>
              <a:gd name="connsiteX20" fmla="*/ 376333 w 547877"/>
              <a:gd name="connsiteY20" fmla="*/ 841153 h 1204531"/>
              <a:gd name="connsiteX21" fmla="*/ 376333 w 547877"/>
              <a:gd name="connsiteY21" fmla="*/ 363188 h 1204531"/>
              <a:gd name="connsiteX22" fmla="*/ 393478 w 547877"/>
              <a:gd name="connsiteY22" fmla="*/ 129064 h 1204531"/>
            </a:gdLst>
            <a:rect l="l" t="t" r="r" b="b"/>
            <a:pathLst>
              <a:path w="547877" h="1204531">
                <a:moveTo>
                  <a:pt x="393478" y="129064"/>
                </a:moveTo>
                <a:cubicBezTo>
                  <a:pt x="414242" y="74771"/>
                  <a:pt x="482727" y="74771"/>
                  <a:pt x="537686" y="74771"/>
                </a:cubicBezTo>
                <a:lnTo>
                  <a:pt x="547878" y="74771"/>
                </a:lnTo>
                <a:lnTo>
                  <a:pt x="547878" y="0"/>
                </a:lnTo>
                <a:cubicBezTo>
                  <a:pt x="547878" y="0"/>
                  <a:pt x="333565" y="4667"/>
                  <a:pt x="267938" y="4667"/>
                </a:cubicBezTo>
                <a:cubicBezTo>
                  <a:pt x="200406" y="4667"/>
                  <a:pt x="0" y="0"/>
                  <a:pt x="0" y="0"/>
                </a:cubicBezTo>
                <a:lnTo>
                  <a:pt x="0" y="74771"/>
                </a:lnTo>
                <a:lnTo>
                  <a:pt x="10192" y="74771"/>
                </a:lnTo>
                <a:cubicBezTo>
                  <a:pt x="65246" y="74771"/>
                  <a:pt x="133731" y="74771"/>
                  <a:pt x="154400" y="128968"/>
                </a:cubicBezTo>
                <a:cubicBezTo>
                  <a:pt x="171640" y="175450"/>
                  <a:pt x="171640" y="307086"/>
                  <a:pt x="171640" y="363188"/>
                </a:cubicBezTo>
                <a:lnTo>
                  <a:pt x="171640" y="841153"/>
                </a:lnTo>
                <a:cubicBezTo>
                  <a:pt x="171640" y="897350"/>
                  <a:pt x="171640" y="1028890"/>
                  <a:pt x="154496" y="1075373"/>
                </a:cubicBezTo>
                <a:cubicBezTo>
                  <a:pt x="133731" y="1129569"/>
                  <a:pt x="65246" y="1129569"/>
                  <a:pt x="10192" y="1129569"/>
                </a:cubicBezTo>
                <a:lnTo>
                  <a:pt x="0" y="1129569"/>
                </a:lnTo>
                <a:lnTo>
                  <a:pt x="0" y="1204531"/>
                </a:lnTo>
                <a:cubicBezTo>
                  <a:pt x="0" y="1204341"/>
                  <a:pt x="173260" y="1197102"/>
                  <a:pt x="268224" y="1197102"/>
                </a:cubicBezTo>
                <a:cubicBezTo>
                  <a:pt x="377476" y="1197102"/>
                  <a:pt x="547878" y="1204531"/>
                  <a:pt x="547878" y="1204531"/>
                </a:cubicBezTo>
                <a:lnTo>
                  <a:pt x="547878" y="1129569"/>
                </a:lnTo>
                <a:lnTo>
                  <a:pt x="537686" y="1129569"/>
                </a:lnTo>
                <a:cubicBezTo>
                  <a:pt x="482727" y="1129569"/>
                  <a:pt x="414242" y="1129569"/>
                  <a:pt x="393478" y="1075468"/>
                </a:cubicBezTo>
                <a:cubicBezTo>
                  <a:pt x="376333" y="1028890"/>
                  <a:pt x="376333" y="897350"/>
                  <a:pt x="376333" y="841153"/>
                </a:cubicBezTo>
                <a:lnTo>
                  <a:pt x="376333" y="363188"/>
                </a:lnTo>
                <a:cubicBezTo>
                  <a:pt x="376333" y="307086"/>
                  <a:pt x="376333" y="175450"/>
                  <a:pt x="393478" y="129064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A9CDF796-80E7-89FE-ECFA-376EE09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743" y="6386813"/>
            <a:ext cx="282153" cy="301519"/>
          </a:xfrm>
          <a:custGeom xmlns:a="http://schemas.openxmlformats.org/drawingml/2006/main">
            <a:gdLst>
              <a:gd name="connsiteX0" fmla="*/ 0 w 1126902"/>
              <a:gd name="connsiteY0" fmla="*/ 0 h 1204245"/>
              <a:gd name="connsiteX1" fmla="*/ 0 w 1126902"/>
              <a:gd name="connsiteY1" fmla="*/ 312420 h 1204245"/>
              <a:gd name="connsiteX2" fmla="*/ 74295 w 1126902"/>
              <a:gd name="connsiteY2" fmla="*/ 312420 h 1204245"/>
              <a:gd name="connsiteX3" fmla="*/ 74581 w 1126902"/>
              <a:gd name="connsiteY3" fmla="*/ 302609 h 1204245"/>
              <a:gd name="connsiteX4" fmla="*/ 334328 w 1126902"/>
              <a:gd name="connsiteY4" fmla="*/ 90773 h 1204245"/>
              <a:gd name="connsiteX5" fmla="*/ 352330 w 1126902"/>
              <a:gd name="connsiteY5" fmla="*/ 90678 h 1204245"/>
              <a:gd name="connsiteX6" fmla="*/ 453200 w 1126902"/>
              <a:gd name="connsiteY6" fmla="*/ 106204 h 1204245"/>
              <a:gd name="connsiteX7" fmla="*/ 461201 w 1126902"/>
              <a:gd name="connsiteY7" fmla="*/ 128873 h 1204245"/>
              <a:gd name="connsiteX8" fmla="*/ 461201 w 1126902"/>
              <a:gd name="connsiteY8" fmla="*/ 950119 h 1204245"/>
              <a:gd name="connsiteX9" fmla="*/ 272510 w 1126902"/>
              <a:gd name="connsiteY9" fmla="*/ 1129475 h 1204245"/>
              <a:gd name="connsiteX10" fmla="*/ 262700 w 1126902"/>
              <a:gd name="connsiteY10" fmla="*/ 1129856 h 1204245"/>
              <a:gd name="connsiteX11" fmla="*/ 262700 w 1126902"/>
              <a:gd name="connsiteY11" fmla="*/ 1204246 h 1204245"/>
              <a:gd name="connsiteX12" fmla="*/ 578548 w 1126902"/>
              <a:gd name="connsiteY12" fmla="*/ 1196911 h 1204245"/>
              <a:gd name="connsiteX13" fmla="*/ 864203 w 1126902"/>
              <a:gd name="connsiteY13" fmla="*/ 1204246 h 1204245"/>
              <a:gd name="connsiteX14" fmla="*/ 864203 w 1126902"/>
              <a:gd name="connsiteY14" fmla="*/ 1129856 h 1204245"/>
              <a:gd name="connsiteX15" fmla="*/ 854393 w 1126902"/>
              <a:gd name="connsiteY15" fmla="*/ 1129475 h 1204245"/>
              <a:gd name="connsiteX16" fmla="*/ 665702 w 1126902"/>
              <a:gd name="connsiteY16" fmla="*/ 950119 h 1204245"/>
              <a:gd name="connsiteX17" fmla="*/ 665702 w 1126902"/>
              <a:gd name="connsiteY17" fmla="*/ 128873 h 1204245"/>
              <a:gd name="connsiteX18" fmla="*/ 673608 w 1126902"/>
              <a:gd name="connsiteY18" fmla="*/ 108490 h 1204245"/>
              <a:gd name="connsiteX19" fmla="*/ 791718 w 1126902"/>
              <a:gd name="connsiteY19" fmla="*/ 90488 h 1204245"/>
              <a:gd name="connsiteX20" fmla="*/ 815912 w 1126902"/>
              <a:gd name="connsiteY20" fmla="*/ 90773 h 1204245"/>
              <a:gd name="connsiteX21" fmla="*/ 1052513 w 1126902"/>
              <a:gd name="connsiteY21" fmla="*/ 302895 h 1204245"/>
              <a:gd name="connsiteX22" fmla="*/ 1053084 w 1126902"/>
              <a:gd name="connsiteY22" fmla="*/ 312420 h 1204245"/>
              <a:gd name="connsiteX23" fmla="*/ 1126903 w 1126902"/>
              <a:gd name="connsiteY23" fmla="*/ 312420 h 1204245"/>
              <a:gd name="connsiteX24" fmla="*/ 1126903 w 1126902"/>
              <a:gd name="connsiteY24" fmla="*/ 0 h 1204245"/>
              <a:gd name="connsiteX25" fmla="*/ 563404 w 1126902"/>
              <a:gd name="connsiteY25" fmla="*/ 2857 h 1204245"/>
              <a:gd name="connsiteX26" fmla="*/ 0 w 1126902"/>
              <a:gd name="connsiteY26" fmla="*/ 0 h 1204245"/>
            </a:gdLst>
            <a:rect l="l" t="t" r="r" b="b"/>
            <a:pathLst>
              <a:path w="1126902" h="1204245">
                <a:moveTo>
                  <a:pt x="0" y="0"/>
                </a:moveTo>
                <a:lnTo>
                  <a:pt x="0" y="312420"/>
                </a:lnTo>
                <a:lnTo>
                  <a:pt x="74295" y="312420"/>
                </a:lnTo>
                <a:lnTo>
                  <a:pt x="74581" y="302609"/>
                </a:lnTo>
                <a:cubicBezTo>
                  <a:pt x="81344" y="99346"/>
                  <a:pt x="159163" y="90773"/>
                  <a:pt x="334328" y="90773"/>
                </a:cubicBezTo>
                <a:cubicBezTo>
                  <a:pt x="340328" y="90773"/>
                  <a:pt x="346424" y="90773"/>
                  <a:pt x="352330" y="90678"/>
                </a:cubicBezTo>
                <a:cubicBezTo>
                  <a:pt x="395859" y="90392"/>
                  <a:pt x="437007" y="90106"/>
                  <a:pt x="453200" y="106204"/>
                </a:cubicBezTo>
                <a:cubicBezTo>
                  <a:pt x="458629" y="111538"/>
                  <a:pt x="461201" y="118967"/>
                  <a:pt x="461201" y="128873"/>
                </a:cubicBezTo>
                <a:lnTo>
                  <a:pt x="461201" y="950119"/>
                </a:lnTo>
                <a:cubicBezTo>
                  <a:pt x="461201" y="1072039"/>
                  <a:pt x="444151" y="1122426"/>
                  <a:pt x="272510" y="1129475"/>
                </a:cubicBezTo>
                <a:lnTo>
                  <a:pt x="262700" y="1129856"/>
                </a:lnTo>
                <a:lnTo>
                  <a:pt x="262700" y="1204246"/>
                </a:lnTo>
                <a:cubicBezTo>
                  <a:pt x="262700" y="1204246"/>
                  <a:pt x="462725" y="1196911"/>
                  <a:pt x="578548" y="1196911"/>
                </a:cubicBezTo>
                <a:cubicBezTo>
                  <a:pt x="666941" y="1196911"/>
                  <a:pt x="864203" y="1204246"/>
                  <a:pt x="864203" y="1204246"/>
                </a:cubicBezTo>
                <a:lnTo>
                  <a:pt x="864203" y="1129856"/>
                </a:lnTo>
                <a:lnTo>
                  <a:pt x="854393" y="1129475"/>
                </a:lnTo>
                <a:cubicBezTo>
                  <a:pt x="682752" y="1122426"/>
                  <a:pt x="665702" y="1072039"/>
                  <a:pt x="665702" y="950119"/>
                </a:cubicBezTo>
                <a:lnTo>
                  <a:pt x="665702" y="128873"/>
                </a:lnTo>
                <a:cubicBezTo>
                  <a:pt x="665702" y="120396"/>
                  <a:pt x="668369" y="113729"/>
                  <a:pt x="673608" y="108490"/>
                </a:cubicBezTo>
                <a:cubicBezTo>
                  <a:pt x="693420" y="89059"/>
                  <a:pt x="747903" y="89821"/>
                  <a:pt x="791718" y="90488"/>
                </a:cubicBezTo>
                <a:cubicBezTo>
                  <a:pt x="800005" y="90583"/>
                  <a:pt x="808196" y="90773"/>
                  <a:pt x="815912" y="90773"/>
                </a:cubicBezTo>
                <a:cubicBezTo>
                  <a:pt x="987267" y="90773"/>
                  <a:pt x="1042511" y="140303"/>
                  <a:pt x="1052513" y="302895"/>
                </a:cubicBezTo>
                <a:lnTo>
                  <a:pt x="1053084" y="312420"/>
                </a:lnTo>
                <a:lnTo>
                  <a:pt x="1126903" y="312420"/>
                </a:lnTo>
                <a:lnTo>
                  <a:pt x="1126903" y="0"/>
                </a:lnTo>
                <a:cubicBezTo>
                  <a:pt x="1126903" y="0"/>
                  <a:pt x="694468" y="2857"/>
                  <a:pt x="563404" y="2857"/>
                </a:cubicBezTo>
                <a:cubicBezTo>
                  <a:pt x="432340" y="2857"/>
                  <a:pt x="0" y="0"/>
                  <a:pt x="0" y="0"/>
                </a:cubicBez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396685BB-D245-F24C-E67E-92273E3E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133" y="6386503"/>
            <a:ext cx="299229" cy="301614"/>
          </a:xfrm>
          <a:custGeom xmlns:a="http://schemas.openxmlformats.org/drawingml/2006/main">
            <a:gdLst>
              <a:gd name="connsiteX0" fmla="*/ 372618 w 1195101"/>
              <a:gd name="connsiteY0" fmla="*/ 571786 h 1204626"/>
              <a:gd name="connsiteX1" fmla="*/ 372523 w 1195101"/>
              <a:gd name="connsiteY1" fmla="*/ 134303 h 1204626"/>
              <a:gd name="connsiteX2" fmla="*/ 386239 w 1195101"/>
              <a:gd name="connsiteY2" fmla="*/ 86487 h 1204626"/>
              <a:gd name="connsiteX3" fmla="*/ 498348 w 1195101"/>
              <a:gd name="connsiteY3" fmla="*/ 85630 h 1204626"/>
              <a:gd name="connsiteX4" fmla="*/ 738473 w 1195101"/>
              <a:gd name="connsiteY4" fmla="*/ 330518 h 1204626"/>
              <a:gd name="connsiteX5" fmla="*/ 640747 w 1195101"/>
              <a:gd name="connsiteY5" fmla="*/ 541687 h 1204626"/>
              <a:gd name="connsiteX6" fmla="*/ 372618 w 1195101"/>
              <a:gd name="connsiteY6" fmla="*/ 571786 h 1204626"/>
              <a:gd name="connsiteX7" fmla="*/ 1186529 w 1195101"/>
              <a:gd name="connsiteY7" fmla="*/ 1129760 h 1204626"/>
              <a:gd name="connsiteX8" fmla="*/ 1017461 w 1195101"/>
              <a:gd name="connsiteY8" fmla="*/ 1040702 h 1204626"/>
              <a:gd name="connsiteX9" fmla="*/ 661797 w 1195101"/>
              <a:gd name="connsiteY9" fmla="*/ 632460 h 1204626"/>
              <a:gd name="connsiteX10" fmla="*/ 964597 w 1195101"/>
              <a:gd name="connsiteY10" fmla="*/ 305371 h 1204626"/>
              <a:gd name="connsiteX11" fmla="*/ 831056 w 1195101"/>
              <a:gd name="connsiteY11" fmla="*/ 55816 h 1204626"/>
              <a:gd name="connsiteX12" fmla="*/ 544639 w 1195101"/>
              <a:gd name="connsiteY12" fmla="*/ 190 h 1204626"/>
              <a:gd name="connsiteX13" fmla="*/ 317468 w 1195101"/>
              <a:gd name="connsiteY13" fmla="*/ 4191 h 1204626"/>
              <a:gd name="connsiteX14" fmla="*/ 191 w 1195101"/>
              <a:gd name="connsiteY14" fmla="*/ 0 h 1204626"/>
              <a:gd name="connsiteX15" fmla="*/ 191 w 1195101"/>
              <a:gd name="connsiteY15" fmla="*/ 74866 h 1204626"/>
              <a:gd name="connsiteX16" fmla="*/ 15050 w 1195101"/>
              <a:gd name="connsiteY16" fmla="*/ 74866 h 1204626"/>
              <a:gd name="connsiteX17" fmla="*/ 152781 w 1195101"/>
              <a:gd name="connsiteY17" fmla="*/ 128683 h 1204626"/>
              <a:gd name="connsiteX18" fmla="*/ 168307 w 1195101"/>
              <a:gd name="connsiteY18" fmla="*/ 350139 h 1204626"/>
              <a:gd name="connsiteX19" fmla="*/ 168307 w 1195101"/>
              <a:gd name="connsiteY19" fmla="*/ 841248 h 1204626"/>
              <a:gd name="connsiteX20" fmla="*/ 161068 w 1195101"/>
              <a:gd name="connsiteY20" fmla="*/ 1034129 h 1204626"/>
              <a:gd name="connsiteX21" fmla="*/ 152686 w 1195101"/>
              <a:gd name="connsiteY21" fmla="*/ 1075944 h 1204626"/>
              <a:gd name="connsiteX22" fmla="*/ 10382 w 1195101"/>
              <a:gd name="connsiteY22" fmla="*/ 1129665 h 1204626"/>
              <a:gd name="connsiteX23" fmla="*/ 0 w 1195101"/>
              <a:gd name="connsiteY23" fmla="*/ 1129665 h 1204626"/>
              <a:gd name="connsiteX24" fmla="*/ 0 w 1195101"/>
              <a:gd name="connsiteY24" fmla="*/ 1204532 h 1204626"/>
              <a:gd name="connsiteX25" fmla="*/ 278225 w 1195101"/>
              <a:gd name="connsiteY25" fmla="*/ 1197102 h 1204626"/>
              <a:gd name="connsiteX26" fmla="*/ 540734 w 1195101"/>
              <a:gd name="connsiteY26" fmla="*/ 1204532 h 1204626"/>
              <a:gd name="connsiteX27" fmla="*/ 540734 w 1195101"/>
              <a:gd name="connsiteY27" fmla="*/ 1129665 h 1204626"/>
              <a:gd name="connsiteX28" fmla="*/ 525971 w 1195101"/>
              <a:gd name="connsiteY28" fmla="*/ 1129665 h 1204626"/>
              <a:gd name="connsiteX29" fmla="*/ 388239 w 1195101"/>
              <a:gd name="connsiteY29" fmla="*/ 1075754 h 1204626"/>
              <a:gd name="connsiteX30" fmla="*/ 379857 w 1195101"/>
              <a:gd name="connsiteY30" fmla="*/ 1034034 h 1204626"/>
              <a:gd name="connsiteX31" fmla="*/ 372618 w 1195101"/>
              <a:gd name="connsiteY31" fmla="*/ 854297 h 1204626"/>
              <a:gd name="connsiteX32" fmla="*/ 372618 w 1195101"/>
              <a:gd name="connsiteY32" fmla="*/ 653510 h 1204626"/>
              <a:gd name="connsiteX33" fmla="*/ 479107 w 1195101"/>
              <a:gd name="connsiteY33" fmla="*/ 702469 h 1204626"/>
              <a:gd name="connsiteX34" fmla="*/ 501110 w 1195101"/>
              <a:gd name="connsiteY34" fmla="*/ 728472 h 1204626"/>
              <a:gd name="connsiteX35" fmla="*/ 797909 w 1195101"/>
              <a:gd name="connsiteY35" fmla="*/ 1096804 h 1204626"/>
              <a:gd name="connsiteX36" fmla="*/ 885158 w 1195101"/>
              <a:gd name="connsiteY36" fmla="*/ 1204532 h 1204626"/>
              <a:gd name="connsiteX37" fmla="*/ 1027366 w 1195101"/>
              <a:gd name="connsiteY37" fmla="*/ 1200436 h 1204626"/>
              <a:gd name="connsiteX38" fmla="*/ 1195102 w 1195101"/>
              <a:gd name="connsiteY38" fmla="*/ 1204627 h 1204626"/>
              <a:gd name="connsiteX39" fmla="*/ 1195102 w 1195101"/>
              <a:gd name="connsiteY39" fmla="*/ 1131094 h 1204626"/>
              <a:gd name="connsiteX40" fmla="*/ 1186529 w 1195101"/>
              <a:gd name="connsiteY40" fmla="*/ 1129760 h 1204626"/>
            </a:gdLst>
            <a:rect l="l" t="t" r="r" b="b"/>
            <a:pathLst>
              <a:path w="1195101" h="1204626">
                <a:moveTo>
                  <a:pt x="372618" y="571786"/>
                </a:moveTo>
                <a:cubicBezTo>
                  <a:pt x="372618" y="571786"/>
                  <a:pt x="372618" y="136874"/>
                  <a:pt x="372523" y="134303"/>
                </a:cubicBezTo>
                <a:cubicBezTo>
                  <a:pt x="372237" y="116967"/>
                  <a:pt x="371761" y="93250"/>
                  <a:pt x="386239" y="86487"/>
                </a:cubicBezTo>
                <a:cubicBezTo>
                  <a:pt x="396240" y="82105"/>
                  <a:pt x="493014" y="85630"/>
                  <a:pt x="498348" y="85630"/>
                </a:cubicBezTo>
                <a:cubicBezTo>
                  <a:pt x="650938" y="85630"/>
                  <a:pt x="738473" y="174974"/>
                  <a:pt x="738473" y="330518"/>
                </a:cubicBezTo>
                <a:cubicBezTo>
                  <a:pt x="738473" y="443960"/>
                  <a:pt x="708374" y="509016"/>
                  <a:pt x="640747" y="541687"/>
                </a:cubicBezTo>
                <a:cubicBezTo>
                  <a:pt x="577691" y="571976"/>
                  <a:pt x="372618" y="571786"/>
                  <a:pt x="372618" y="571786"/>
                </a:cubicBezTo>
                <a:moveTo>
                  <a:pt x="1186529" y="1129760"/>
                </a:moveTo>
                <a:cubicBezTo>
                  <a:pt x="1100138" y="1116235"/>
                  <a:pt x="1074134" y="1106424"/>
                  <a:pt x="1017461" y="1040702"/>
                </a:cubicBezTo>
                <a:lnTo>
                  <a:pt x="661797" y="632460"/>
                </a:lnTo>
                <a:cubicBezTo>
                  <a:pt x="849059" y="608076"/>
                  <a:pt x="964597" y="484251"/>
                  <a:pt x="964597" y="305371"/>
                </a:cubicBezTo>
                <a:cubicBezTo>
                  <a:pt x="964597" y="188976"/>
                  <a:pt x="919544" y="105061"/>
                  <a:pt x="831056" y="55816"/>
                </a:cubicBezTo>
                <a:cubicBezTo>
                  <a:pt x="763619" y="18383"/>
                  <a:pt x="670084" y="190"/>
                  <a:pt x="544639" y="190"/>
                </a:cubicBezTo>
                <a:cubicBezTo>
                  <a:pt x="507206" y="1143"/>
                  <a:pt x="416909" y="4191"/>
                  <a:pt x="317468" y="4191"/>
                </a:cubicBezTo>
                <a:cubicBezTo>
                  <a:pt x="214313" y="4191"/>
                  <a:pt x="191" y="0"/>
                  <a:pt x="191" y="0"/>
                </a:cubicBezTo>
                <a:lnTo>
                  <a:pt x="191" y="74866"/>
                </a:lnTo>
                <a:lnTo>
                  <a:pt x="15050" y="74866"/>
                </a:lnTo>
                <a:cubicBezTo>
                  <a:pt x="71818" y="74486"/>
                  <a:pt x="135731" y="74771"/>
                  <a:pt x="152781" y="128683"/>
                </a:cubicBezTo>
                <a:cubicBezTo>
                  <a:pt x="168307" y="175355"/>
                  <a:pt x="168307" y="306896"/>
                  <a:pt x="168307" y="350139"/>
                </a:cubicBezTo>
                <a:lnTo>
                  <a:pt x="168307" y="841248"/>
                </a:lnTo>
                <a:cubicBezTo>
                  <a:pt x="168307" y="895445"/>
                  <a:pt x="168307" y="977837"/>
                  <a:pt x="161068" y="1034129"/>
                </a:cubicBezTo>
                <a:cubicBezTo>
                  <a:pt x="158972" y="1050798"/>
                  <a:pt x="156210" y="1065276"/>
                  <a:pt x="152686" y="1075944"/>
                </a:cubicBezTo>
                <a:cubicBezTo>
                  <a:pt x="135350" y="1129665"/>
                  <a:pt x="66104" y="1129665"/>
                  <a:pt x="10382" y="1129665"/>
                </a:cubicBezTo>
                <a:lnTo>
                  <a:pt x="0" y="1129665"/>
                </a:lnTo>
                <a:lnTo>
                  <a:pt x="0" y="1204532"/>
                </a:lnTo>
                <a:cubicBezTo>
                  <a:pt x="0" y="1204532"/>
                  <a:pt x="166783" y="1197102"/>
                  <a:pt x="278225" y="1197102"/>
                </a:cubicBezTo>
                <a:cubicBezTo>
                  <a:pt x="374047" y="1197102"/>
                  <a:pt x="540734" y="1204246"/>
                  <a:pt x="540734" y="1204532"/>
                </a:cubicBezTo>
                <a:lnTo>
                  <a:pt x="540734" y="1129665"/>
                </a:lnTo>
                <a:lnTo>
                  <a:pt x="525971" y="1129665"/>
                </a:lnTo>
                <a:cubicBezTo>
                  <a:pt x="470059" y="1129951"/>
                  <a:pt x="406813" y="1129760"/>
                  <a:pt x="388239" y="1075754"/>
                </a:cubicBezTo>
                <a:cubicBezTo>
                  <a:pt x="384620" y="1065086"/>
                  <a:pt x="381953" y="1050607"/>
                  <a:pt x="379857" y="1034034"/>
                </a:cubicBezTo>
                <a:cubicBezTo>
                  <a:pt x="372618" y="978122"/>
                  <a:pt x="372618" y="898017"/>
                  <a:pt x="372618" y="854297"/>
                </a:cubicBezTo>
                <a:lnTo>
                  <a:pt x="372618" y="653510"/>
                </a:lnTo>
                <a:cubicBezTo>
                  <a:pt x="439198" y="654082"/>
                  <a:pt x="444913" y="661035"/>
                  <a:pt x="479107" y="702469"/>
                </a:cubicBezTo>
                <a:cubicBezTo>
                  <a:pt x="485489" y="710089"/>
                  <a:pt x="492728" y="718756"/>
                  <a:pt x="501110" y="728472"/>
                </a:cubicBezTo>
                <a:lnTo>
                  <a:pt x="797909" y="1096804"/>
                </a:lnTo>
                <a:lnTo>
                  <a:pt x="885158" y="1204532"/>
                </a:lnTo>
                <a:cubicBezTo>
                  <a:pt x="885158" y="1204532"/>
                  <a:pt x="980885" y="1200436"/>
                  <a:pt x="1027366" y="1200436"/>
                </a:cubicBezTo>
                <a:cubicBezTo>
                  <a:pt x="1094994" y="1200436"/>
                  <a:pt x="1195102" y="1204627"/>
                  <a:pt x="1195102" y="1204627"/>
                </a:cubicBezTo>
                <a:lnTo>
                  <a:pt x="1195102" y="1131094"/>
                </a:lnTo>
                <a:lnTo>
                  <a:pt x="1186529" y="11297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B2FA6A51-A5BE-ED85-970D-14A0D99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87" y="3433939"/>
            <a:ext cx="2466141" cy="954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1" kern="1200">
                <a:solidFill>
                  <a:srgbClr val="E56B2A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9837008654956"/>
    <p:sldLayoutId xmlns:r="http://schemas.openxmlformats.org/officeDocument/2006/relationships" id="2147483650" r:id="R8c8d427197ee462e"/>
    <p:sldLayoutId xmlns:r="http://schemas.openxmlformats.org/officeDocument/2006/relationships" id="2147483651" r:id="R2736feff360945c3"/>
    <p:sldLayoutId xmlns:r="http://schemas.openxmlformats.org/officeDocument/2006/relationships" id="2147483652" r:id="R8183839213f6498d"/>
    <p:sldLayoutId xmlns:r="http://schemas.openxmlformats.org/officeDocument/2006/relationships" id="2147483653" r:id="R8d8873ff3c994521"/>
    <p:sldLayoutId xmlns:r="http://schemas.openxmlformats.org/officeDocument/2006/relationships" id="2147483654" r:id="R9b72bc9d4b2641b8"/>
    <p:sldLayoutId xmlns:r="http://schemas.openxmlformats.org/officeDocument/2006/relationships" id="2147483655" r:id="Rf7c943fed68b41c2"/>
    <p:sldLayoutId xmlns:r="http://schemas.openxmlformats.org/officeDocument/2006/relationships" id="2147483656" r:id="R0578ba66a09f4e9f"/>
    <p:sldLayoutId xmlns:r="http://schemas.openxmlformats.org/officeDocument/2006/relationships" id="2147483657" r:id="R19201dd2a5f64219"/>
    <p:sldLayoutId xmlns:r="http://schemas.openxmlformats.org/officeDocument/2006/relationships" id="2147483658" r:id="R739659bbcc6b456d"/>
    <p:sldLayoutId xmlns:r="http://schemas.openxmlformats.org/officeDocument/2006/relationships" id="2147483659" r:id="R8c5706f6b87340d1"/>
    <p:sldLayoutId xmlns:r="http://schemas.openxmlformats.org/officeDocument/2006/relationships" id="2147483660" r:id="R2be8907b9dbd4c18"/>
    <p:sldLayoutId xmlns:r="http://schemas.openxmlformats.org/officeDocument/2006/relationships" id="2147483661" r:id="R91d586f6f83b48b6"/>
    <p:sldLayoutId xmlns:r="http://schemas.openxmlformats.org/officeDocument/2006/relationships" id="2147483662" r:id="R56d55773957646da"/>
    <p:sldLayoutId xmlns:r="http://schemas.openxmlformats.org/officeDocument/2006/relationships" id="2147483663" r:id="Ra6719eeddcf94abe"/>
    <p:sldLayoutId xmlns:r="http://schemas.openxmlformats.org/officeDocument/2006/relationships" id="2147483664" r:id="Rb960d470b6d54dec"/>
    <p:sldLayoutId xmlns:r="http://schemas.openxmlformats.org/officeDocument/2006/relationships" id="2147483665" r:id="Rf1e99cd4b5174033"/>
    <p:sldLayoutId xmlns:r="http://schemas.openxmlformats.org/officeDocument/2006/relationships" id="2147483666" r:id="Rccd90b0f6bf64111"/>
    <p:sldLayoutId xmlns:r="http://schemas.openxmlformats.org/officeDocument/2006/relationships" id="2147483667" r:id="Ra58f8aa812544519"/>
    <p:sldLayoutId xmlns:r="http://schemas.openxmlformats.org/officeDocument/2006/relationships" id="2147483668" r:id="Rc74d93b0835142e9"/>
    <p:sldLayoutId xmlns:r="http://schemas.openxmlformats.org/officeDocument/2006/relationships" id="2147483669" r:id="R0e5e05d235334be5"/>
    <p:sldLayoutId xmlns:r="http://schemas.openxmlformats.org/officeDocument/2006/relationships" id="2147483670" r:id="Rf35df00d31204eea"/>
    <p:sldLayoutId xmlns:r="http://schemas.openxmlformats.org/officeDocument/2006/relationships" id="2147483671" r:id="R05ca7845844344a8"/>
    <p:sldLayoutId xmlns:r="http://schemas.openxmlformats.org/officeDocument/2006/relationships" id="2147483672" r:id="Rf067d503b1884a6d"/>
    <p:sldLayoutId xmlns:r="http://schemas.openxmlformats.org/officeDocument/2006/relationships" id="2147483673" r:id="R053fa344e93f4163"/>
    <p:sldLayoutId xmlns:r="http://schemas.openxmlformats.org/officeDocument/2006/relationships" id="2147483674" r:id="R72c22b10ae0e4204"/>
    <p:sldLayoutId xmlns:r="http://schemas.openxmlformats.org/officeDocument/2006/relationships" id="2147483675" r:id="Rb8bd40dc428044c6"/>
    <p:sldLayoutId xmlns:r="http://schemas.openxmlformats.org/officeDocument/2006/relationships" id="2147483676" r:id="R3e5cff9d822945f8"/>
    <p:sldLayoutId xmlns:r="http://schemas.openxmlformats.org/officeDocument/2006/relationships" id="2147483677" r:id="R25a0a44957c24c4e"/>
    <p:sldLayoutId xmlns:r="http://schemas.openxmlformats.org/officeDocument/2006/relationships" id="2147483678" r:id="R8ed760755116469a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IT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76904"/>
      </a:accent1>
      <a:accent2>
        <a:srgbClr val="F6BE00"/>
      </a:accent2>
      <a:accent3>
        <a:srgbClr val="C3D500"/>
      </a:accent3>
      <a:accent4>
        <a:srgbClr val="009BBD"/>
      </a:accent4>
      <a:accent5>
        <a:srgbClr val="DA291B"/>
      </a:accent5>
      <a:accent6>
        <a:srgbClr val="7D54C7"/>
      </a:accent6>
      <a:hlink>
        <a:srgbClr val="F76904"/>
      </a:hlink>
      <a:folHlink>
        <a:srgbClr val="7174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T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3e65de23c4bb5" /><Relationship Type="http://schemas.openxmlformats.org/officeDocument/2006/relationships/notesSlide" Target="/ppt/notesSlides/notesSlide1.xml" Id="Reecb03ebd49e4c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f8f6da553342c4" /><Relationship Type="http://schemas.openxmlformats.org/officeDocument/2006/relationships/notesSlide" Target="/ppt/notesSlides/notesSlide2.xml" Id="Raf3d38aa30f7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47c6494758d4c2d" /><Relationship Type="http://schemas.openxmlformats.org/officeDocument/2006/relationships/notesSlide" Target="/ppt/notesSlides/notesSlide3.xml" Id="Rfe07d14785fd43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556e0926db54ada" /><Relationship Type="http://schemas.openxmlformats.org/officeDocument/2006/relationships/chart" Target="/ppt/slides/charts/chart1.xml" Id="Rd855c4165d3140fc" /><Relationship Type="http://schemas.openxmlformats.org/officeDocument/2006/relationships/notesSlide" Target="/ppt/notesSlides/notesSlide4.xml" Id="R0d6dc697ed9a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9383ce3aa044dc" /><Relationship Type="http://schemas.openxmlformats.org/officeDocument/2006/relationships/chart" Target="/ppt/slides/charts/chart2.xml" Id="Rfdff4444bcb74e0b" /><Relationship Type="http://schemas.openxmlformats.org/officeDocument/2006/relationships/notesSlide" Target="/ppt/notesSlides/notesSlide5.xml" Id="Rc6aa4c9fd33c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c366c99f181e4479" /><Relationship Type="http://schemas.openxmlformats.org/officeDocument/2006/relationships/notesSlide" Target="/ppt/notesSlides/notesSlide6.xml" Id="R95672dfcd5d5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30eeb7a94cf3475b" /><Relationship Type="http://schemas.openxmlformats.org/officeDocument/2006/relationships/notesSlide" Target="/ppt/notesSlides/notesSlide7.xml" Id="R44fc61a5910944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11111"/>
                </a:solidFill>
              </a:rPr>
              <a:t>Participant modality coverage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11111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Participants</c:v>
          </c:tx>
          <c:spPr>
            <a:solidFill xmlns:a="http://schemas.openxmlformats.org/drawingml/2006/main">
              <a:srgbClr val="F76902"/>
            </a:solidFill>
          </c:spPr>
          <c:cat>
            <c:strRef>
              <c:f>'Chart Data'!$A$2:$A$4</c:f>
              <c:strCache>
                <c:ptCount val="3"/>
                <c:pt idx="0">
                  <c:v>CGM</c:v>
                </c:pt>
                <c:pt idx="1">
                  <c:v>Multimodal</c:v>
                </c:pt>
                <c:pt idx="2">
                  <c:v>All core modalities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17</c:v>
                </c:pt>
                <c:pt idx="1">
                  <c:v>15</c:v>
                </c:pt>
                <c:pt idx="2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Participants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11111"/>
                </a:solidFill>
              </a:rPr>
              <a:t>Pinned synthetic 24-hour scenario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Simulated glucose</c:v>
          </c:tx>
          <c:spPr>
            <a:ln xmlns:a="http://schemas.openxmlformats.org/drawingml/2006/main" w="28575">
              <a:solidFill>
                <a:srgbClr val="F76902"/>
              </a:solidFill>
              <a:prstDash val="solid"/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0h</c:v>
                </c:pt>
                <c:pt idx="1">
                  <c:v>2h</c:v>
                </c:pt>
                <c:pt idx="2">
                  <c:v>4h</c:v>
                </c:pt>
                <c:pt idx="3">
                  <c:v>6h</c:v>
                </c:pt>
                <c:pt idx="4">
                  <c:v>8h</c:v>
                </c:pt>
                <c:pt idx="5">
                  <c:v>10h</c:v>
                </c:pt>
                <c:pt idx="6">
                  <c:v>12h</c:v>
                </c:pt>
                <c:pt idx="7">
                  <c:v>14h</c:v>
                </c:pt>
                <c:pt idx="8">
                  <c:v>16h</c:v>
                </c:pt>
                <c:pt idx="9">
                  <c:v>18h</c:v>
                </c:pt>
                <c:pt idx="10">
                  <c:v>20h</c:v>
                </c:pt>
                <c:pt idx="11">
                  <c:v>22h</c:v>
                </c:pt>
                <c:pt idx="12">
                  <c:v>24h</c:v>
                </c:pt>
              </c:strCache>
            </c:strRef>
          </c:cat>
          <c:val>
            <c:numRef>
              <c:f>'Chart Data'!$B$2:$B$14</c:f>
              <c:numCache>
                <c:formatCode>General</c:formatCode>
                <c:ptCount val="13"/>
                <c:pt idx="0">
                  <c:v>108</c:v>
                </c:pt>
                <c:pt idx="1">
                  <c:v>107.98</c:v>
                </c:pt>
                <c:pt idx="2">
                  <c:v>107.97</c:v>
                </c:pt>
                <c:pt idx="3">
                  <c:v>107.95</c:v>
                </c:pt>
                <c:pt idx="4">
                  <c:v>136.04</c:v>
                </c:pt>
                <c:pt idx="5">
                  <c:v>129.94</c:v>
                </c:pt>
                <c:pt idx="6">
                  <c:v>112.07</c:v>
                </c:pt>
                <c:pt idx="7">
                  <c:v>110.7</c:v>
                </c:pt>
                <c:pt idx="8">
                  <c:v>136.69</c:v>
                </c:pt>
                <c:pt idx="9">
                  <c:v>114.96</c:v>
                </c:pt>
                <c:pt idx="10">
                  <c:v>122.24</c:v>
                </c:pt>
                <c:pt idx="11">
                  <c:v>127.63</c:v>
                </c:pt>
                <c:pt idx="12">
                  <c:v>107.63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Relative time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10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mg/dL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69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0EAACBD-C447-4A4B-80DD-114D686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764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CSCI-788 CAPSTONE · MILESTONE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EF01D8-6C15-4B7C-A730-9C5F8F81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GlycoLens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Feasibility and Planning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24B5955-7B9A-4EE1-A35F-723CF4C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529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Final Milestone 1 closure · September 29, 2026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C653528-B6CD-4ED5-8454-08F72181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Sourav Patil</a:t>
            </a:r>
          </a:p>
        </p:txBody>
      </p:sp>
    </p:spTree>
    <p:extLst>
      <p:ext uri="{BB962C8B-B14F-4D97-AF65-F5344CB8AC3E}">
        <p14:creationId xmlns:p14="http://schemas.microsoft.com/office/powerpoint/2010/main" val="2973117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Why meal-centered forecasting is difficult-kicker">
            <a:extLst xmlns:a="http://schemas.openxmlformats.org/drawingml/2006/main">
              <a:ext uri="{FF2B5EF4-FFF2-40B4-BE49-F238E27FC236}">
                <a16:creationId xmlns:a16="http://schemas.microsoft.com/office/drawing/2014/main" id="{AB25DB46-42B7-45CF-B296-ECE19A1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PROBLEM AND M1 OBJECTIVE</a:t>
            </a:r>
          </a:p>
        </p:txBody>
      </p:sp>
      <p:sp>
        <p:nvSpPr>
          <p:cNvPr id="2" name="Why meal-centered forecasting is difficult-title">
            <a:extLst xmlns:a="http://schemas.openxmlformats.org/drawingml/2006/main">
              <a:ext uri="{FF2B5EF4-FFF2-40B4-BE49-F238E27FC236}">
                <a16:creationId xmlns:a16="http://schemas.microsoft.com/office/drawing/2014/main" id="{923BA977-F1E5-4DC4-8E3E-A5F02B73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Why meal-centered forecasting is difficult</a:t>
            </a:r>
          </a:p>
        </p:txBody>
      </p:sp>
      <p:sp>
        <p:nvSpPr>
          <p:cNvPr id="3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D7B8F1B1-FA49-4EFA-A3E8-7D08CB6E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4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2D23A8CF-DFBC-4086-8517-3325F2E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6902"/>
          </a:solidFill>
          <a:ln xmlns:a="http://schemas.openxmlformats.org/drawingml/2006/main" w="0">
            <a:solidFill>
              <a:srgbClr val="F76902"/>
            </a:solidFill>
            <a:prstDash val="solid"/>
          </a:ln>
        </p:spPr>
      </p:sp>
      <p:sp>
        <p:nvSpPr>
          <p:cNvPr id="5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0B5C516B-8F5B-415E-8FD8-5699ADA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problem</a:t>
            </a:r>
          </a:p>
        </p:txBody>
      </p:sp>
      <p:sp>
        <p:nvSpPr>
          <p:cNvPr id="6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D4BFC972-99FE-4E25-89E2-2888A76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591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Post-meal glucose depends on recent CGM, insulin, meal composition, timing, activity, and individual context. Missing or misaligned data can make an apparently strong forecast misleading.</a:t>
            </a:r>
          </a:p>
        </p:txBody>
      </p:sp>
      <p:sp>
        <p:nvSpPr>
          <p:cNvPr id="7" name="objective-card">
            <a:extLst xmlns:a="http://schemas.openxmlformats.org/drawingml/2006/main">
              <a:ext uri="{FF2B5EF4-FFF2-40B4-BE49-F238E27FC236}">
                <a16:creationId xmlns:a16="http://schemas.microsoft.com/office/drawing/2014/main" id="{E2B05BC6-2177-493A-B538-569A208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5524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8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38C51C95-5EF3-4B85-88F0-585D635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9" name="objective-heading">
            <a:extLst xmlns:a="http://schemas.openxmlformats.org/drawingml/2006/main">
              <a:ext uri="{FF2B5EF4-FFF2-40B4-BE49-F238E27FC236}">
                <a16:creationId xmlns:a16="http://schemas.microsoft.com/office/drawing/2014/main" id="{30B1A891-C914-4E87-83EA-CF5201F1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Milestone 1 objective</a:t>
            </a:r>
          </a:p>
        </p:txBody>
      </p:sp>
      <p:sp>
        <p:nvSpPr>
          <p:cNvPr id="10" name="objective-body">
            <a:extLst xmlns:a="http://schemas.openxmlformats.org/drawingml/2006/main">
              <a:ext uri="{FF2B5EF4-FFF2-40B4-BE49-F238E27FC236}">
                <a16:creationId xmlns:a16="http://schemas.microsoft.com/office/drawing/2014/main" id="{62BF3B05-94A8-47A5-ADC8-02717FA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067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Prove technical feasibility with explicit temporal boundaries, one pretrained model, a typed API and browser chart, an executable database schema, and one reproducible simulation scenario.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7ED33BD6-B23F-43D4-A5E6-2744FEE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6902"/>
                </a:solidFill>
              </a:defRPr>
            </a:pPr>
            <a:r>
              <a:rPr sz="1575" b="1">
                <a:solidFill>
                  <a:srgbClr val="F76902"/>
                </a:solidFill>
              </a:rPr>
              <a:t>Research-use only · uncertainty is visible · no insulin dosing or treatment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516765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 complete feasibility slice now exists-kicker">
            <a:extLst xmlns:a="http://schemas.openxmlformats.org/drawingml/2006/main">
              <a:ext uri="{FF2B5EF4-FFF2-40B4-BE49-F238E27FC236}">
                <a16:creationId xmlns:a16="http://schemas.microsoft.com/office/drawing/2014/main" id="{4CD73659-998F-474F-B45F-8162CAD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SYSTEM ARCHITECTURE</a:t>
            </a:r>
          </a:p>
        </p:txBody>
      </p:sp>
      <p:sp>
        <p:nvSpPr>
          <p:cNvPr id="2" name="A complete feasibility slice now exists-title">
            <a:extLst xmlns:a="http://schemas.openxmlformats.org/drawingml/2006/main">
              <a:ext uri="{FF2B5EF4-FFF2-40B4-BE49-F238E27FC236}">
                <a16:creationId xmlns:a16="http://schemas.microsoft.com/office/drawing/2014/main" id="{D05D8977-4645-4A42-B1DA-873A5F20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A complete feasibility slice now exists</a:t>
            </a:r>
          </a:p>
        </p:txBody>
      </p:sp>
      <p:sp>
        <p:nvSpPr>
          <p:cNvPr id="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610D7370-C9C4-4A8E-8226-5BDEF71C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28900"/>
            <a:ext cx="4953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8C65025-7CD8-4CB3-BCDA-681E08DE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4953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9984CB73-7865-41A2-939D-9C2AA01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953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6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029A4A9C-F90B-462C-B433-0D9A6C27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4953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7" name="flow-T1D-UOM&#10;V1.0.4">
            <a:extLst xmlns:a="http://schemas.openxmlformats.org/drawingml/2006/main">
              <a:ext uri="{FF2B5EF4-FFF2-40B4-BE49-F238E27FC236}">
                <a16:creationId xmlns:a16="http://schemas.microsoft.com/office/drawing/2014/main" id="{3032FDA9-22E5-40EB-956F-9E9F5EE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619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3813">
            <a:solidFill>
              <a:srgbClr val="F769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T1D-UOM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V1.0.4</a:t>
            </a:r>
          </a:p>
        </p:txBody>
      </p:sp>
      <p:sp>
        <p:nvSpPr>
          <p:cNvPr id="8" name="flow-Leakage-safe&#10;meal windows">
            <a:extLst xmlns:a="http://schemas.openxmlformats.org/drawingml/2006/main">
              <a:ext uri="{FF2B5EF4-FFF2-40B4-BE49-F238E27FC236}">
                <a16:creationId xmlns:a16="http://schemas.microsoft.com/office/drawing/2014/main" id="{A312CE15-BDF0-41A8-8393-9A89971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1619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Leakage-safe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meal windows</a:t>
            </a:r>
          </a:p>
        </p:txBody>
      </p:sp>
      <p:sp>
        <p:nvSpPr>
          <p:cNvPr id="9" name="flow-Forecast&#10;adapters">
            <a:extLst xmlns:a="http://schemas.openxmlformats.org/drawingml/2006/main">
              <a:ext uri="{FF2B5EF4-FFF2-40B4-BE49-F238E27FC236}">
                <a16:creationId xmlns:a16="http://schemas.microsoft.com/office/drawing/2014/main" id="{0D90703B-496E-4C98-891A-665059E2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1619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Forecast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adapters</a:t>
            </a:r>
          </a:p>
        </p:txBody>
      </p:sp>
      <p:sp>
        <p:nvSpPr>
          <p:cNvPr id="10" name="flow-FastAPI&#10;contract">
            <a:extLst xmlns:a="http://schemas.openxmlformats.org/drawingml/2006/main">
              <a:ext uri="{FF2B5EF4-FFF2-40B4-BE49-F238E27FC236}">
                <a16:creationId xmlns:a16="http://schemas.microsoft.com/office/drawing/2014/main" id="{C811CC9A-7B35-41A1-B290-7A0256B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619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contract</a:t>
            </a:r>
          </a:p>
        </p:txBody>
      </p:sp>
      <p:sp>
        <p:nvSpPr>
          <p:cNvPr id="11" name="flow-Next.js&#10;visualization">
            <a:extLst xmlns:a="http://schemas.openxmlformats.org/drawingml/2006/main">
              <a:ext uri="{FF2B5EF4-FFF2-40B4-BE49-F238E27FC236}">
                <a16:creationId xmlns:a16="http://schemas.microsoft.com/office/drawing/2014/main" id="{BC242A4E-9BD2-409F-A863-6F57F91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1619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9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Next.js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visualization</a:t>
            </a:r>
          </a:p>
        </p:txBody>
      </p:sp>
      <p:sp>
        <p:nvSpPr>
          <p:cNvPr id="12" name="database-card">
            <a:extLst xmlns:a="http://schemas.openxmlformats.org/drawingml/2006/main">
              <a:ext uri="{FF2B5EF4-FFF2-40B4-BE49-F238E27FC236}">
                <a16:creationId xmlns:a16="http://schemas.microsoft.com/office/drawing/2014/main" id="{19044E58-554C-4ED2-B3C4-EE868E1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13" name="database-accent">
            <a:extLst xmlns:a="http://schemas.openxmlformats.org/drawingml/2006/main">
              <a:ext uri="{FF2B5EF4-FFF2-40B4-BE49-F238E27FC236}">
                <a16:creationId xmlns:a16="http://schemas.microsoft.com/office/drawing/2014/main" id="{B282AE7B-34C2-44D8-8AD6-2A737294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6902"/>
          </a:solidFill>
          <a:ln xmlns:a="http://schemas.openxmlformats.org/drawingml/2006/main" w="0">
            <a:solidFill>
              <a:srgbClr val="F76902"/>
            </a:solidFill>
            <a:prstDash val="solid"/>
          </a:ln>
        </p:spPr>
      </p:sp>
      <p:sp>
        <p:nvSpPr>
          <p:cNvPr id="14" name="database-heading">
            <a:extLst xmlns:a="http://schemas.openxmlformats.org/drawingml/2006/main">
              <a:ext uri="{FF2B5EF4-FFF2-40B4-BE49-F238E27FC236}">
                <a16:creationId xmlns:a16="http://schemas.microsoft.com/office/drawing/2014/main" id="{1AE8F2D0-3D9F-4E1E-A8F9-C503996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05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Supabase/PostgreSQL</a:t>
            </a:r>
          </a:p>
        </p:txBody>
      </p:sp>
      <p:sp>
        <p:nvSpPr>
          <p:cNvPr id="15" name="database-body">
            <a:extLst xmlns:a="http://schemas.openxmlformats.org/drawingml/2006/main">
              <a:ext uri="{FF2B5EF4-FFF2-40B4-BE49-F238E27FC236}">
                <a16:creationId xmlns:a16="http://schemas.microsoft.com/office/drawing/2014/main" id="{060F470A-0221-4875-8996-22757B9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2781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10-table schema · RLS · constraints · pgTAP</a:t>
            </a:r>
          </a:p>
        </p:txBody>
      </p:sp>
      <p:sp>
        <p:nvSpPr>
          <p:cNvPr id="16" name="simulator-card">
            <a:extLst xmlns:a="http://schemas.openxmlformats.org/drawingml/2006/main">
              <a:ext uri="{FF2B5EF4-FFF2-40B4-BE49-F238E27FC236}">
                <a16:creationId xmlns:a16="http://schemas.microsoft.com/office/drawing/2014/main" id="{654EED9F-4F1D-46F6-9816-8997556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17" name="simulator-accent">
            <a:extLst xmlns:a="http://schemas.openxmlformats.org/drawingml/2006/main">
              <a:ext uri="{FF2B5EF4-FFF2-40B4-BE49-F238E27FC236}">
                <a16:creationId xmlns:a16="http://schemas.microsoft.com/office/drawing/2014/main" id="{E148E6D2-2A94-479D-8187-2908465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18" name="simulator-heading">
            <a:extLst xmlns:a="http://schemas.openxmlformats.org/drawingml/2006/main">
              <a:ext uri="{FF2B5EF4-FFF2-40B4-BE49-F238E27FC236}">
                <a16:creationId xmlns:a16="http://schemas.microsoft.com/office/drawing/2014/main" id="{6178F90D-1010-4A22-9C0B-8DDDFEE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py-mgipsim</a:t>
            </a:r>
          </a:p>
        </p:txBody>
      </p:sp>
      <p:sp>
        <p:nvSpPr>
          <p:cNvPr id="19" name="simulator-body">
            <a:extLst xmlns:a="http://schemas.openxmlformats.org/drawingml/2006/main">
              <a:ext uri="{FF2B5EF4-FFF2-40B4-BE49-F238E27FC236}">
                <a16:creationId xmlns:a16="http://schemas.microsoft.com/office/drawing/2014/main" id="{58880279-BB74-4A87-B87B-9240E0E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2781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Pinned source · fixed scenario · deterministic output</a:t>
            </a:r>
          </a:p>
        </p:txBody>
      </p:sp>
      <p:sp>
        <p:nvSpPr>
          <p:cNvPr id="20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20888BA6-F298-4320-93B7-E045E18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150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Real research data stays local; public demo transport is identifier-free and synthetic.</a:t>
            </a:r>
          </a:p>
        </p:txBody>
      </p:sp>
    </p:spTree>
    <p:extLst>
      <p:ext uri="{BB962C8B-B14F-4D97-AF65-F5344CB8AC3E}">
        <p14:creationId xmlns:p14="http://schemas.microsoft.com/office/powerpoint/2010/main" val="2282076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he dataset supports a viable first experiment-kicker">
            <a:extLst xmlns:a="http://schemas.openxmlformats.org/drawingml/2006/main">
              <a:ext uri="{FF2B5EF4-FFF2-40B4-BE49-F238E27FC236}">
                <a16:creationId xmlns:a16="http://schemas.microsoft.com/office/drawing/2014/main" id="{C4B2DF0C-7376-42AA-BABF-EC49963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DATA AND MODEL EVIDENCE</a:t>
            </a:r>
          </a:p>
        </p:txBody>
      </p:sp>
      <p:sp>
        <p:nvSpPr>
          <p:cNvPr id="2" name="The dataset supports a viable first experiment-title">
            <a:extLst xmlns:a="http://schemas.openxmlformats.org/drawingml/2006/main">
              <a:ext uri="{FF2B5EF4-FFF2-40B4-BE49-F238E27FC236}">
                <a16:creationId xmlns:a16="http://schemas.microsoft.com/office/drawing/2014/main" id="{9407760C-5129-490F-9136-10EB9A3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The dataset supports a viable first experiment</a:t>
            </a:r>
          </a:p>
        </p:txBody>
      </p:sp>
      <p:sp>
        <p:nvSpPr>
          <p:cNvPr id="3" name="files-value">
            <a:extLst xmlns:a="http://schemas.openxmlformats.org/drawingml/2006/main">
              <a:ext uri="{FF2B5EF4-FFF2-40B4-BE49-F238E27FC236}">
                <a16:creationId xmlns:a16="http://schemas.microsoft.com/office/drawing/2014/main" id="{74FB5332-63AD-4360-B710-A059608B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6902"/>
                </a:solidFill>
              </a:defRPr>
            </a:pPr>
            <a:r>
              <a:rPr sz="2550" b="1">
                <a:solidFill>
                  <a:srgbClr val="F76902"/>
                </a:solidFill>
              </a:rPr>
              <a:t>62</a:t>
            </a:r>
          </a:p>
        </p:txBody>
      </p:sp>
      <p:sp>
        <p:nvSpPr>
          <p:cNvPr id="4" name="files-label">
            <a:extLst xmlns:a="http://schemas.openxmlformats.org/drawingml/2006/main">
              <a:ext uri="{FF2B5EF4-FFF2-40B4-BE49-F238E27FC236}">
                <a16:creationId xmlns:a16="http://schemas.microsoft.com/office/drawing/2014/main" id="{D32993C2-2ECC-484F-83A6-19BA40CC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audited CSV files</a:t>
            </a:r>
          </a:p>
        </p:txBody>
      </p:sp>
      <p:sp>
        <p:nvSpPr>
          <p:cNvPr id="5" name="rows-value">
            <a:extLst xmlns:a="http://schemas.openxmlformats.org/drawingml/2006/main">
              <a:ext uri="{FF2B5EF4-FFF2-40B4-BE49-F238E27FC236}">
                <a16:creationId xmlns:a16="http://schemas.microsoft.com/office/drawing/2014/main" id="{79F29241-26C2-4423-8616-D0C8ED8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6902"/>
                </a:solidFill>
              </a:defRPr>
            </a:pPr>
            <a:r>
              <a:rPr sz="2550" b="1">
                <a:solidFill>
                  <a:srgbClr val="F76902"/>
                </a:solidFill>
              </a:rPr>
              <a:t>386,564</a:t>
            </a:r>
          </a:p>
        </p:txBody>
      </p:sp>
      <p:sp>
        <p:nvSpPr>
          <p:cNvPr id="6" name="rows-label">
            <a:extLst xmlns:a="http://schemas.openxmlformats.org/drawingml/2006/main">
              <a:ext uri="{FF2B5EF4-FFF2-40B4-BE49-F238E27FC236}">
                <a16:creationId xmlns:a16="http://schemas.microsoft.com/office/drawing/2014/main" id="{00859891-215C-4174-A3E6-229F7805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audited rows</a:t>
            </a:r>
          </a:p>
        </p:txBody>
      </p:sp>
      <p:sp>
        <p:nvSpPr>
          <p:cNvPr id="7" name="meals-value">
            <a:extLst xmlns:a="http://schemas.openxmlformats.org/drawingml/2006/main">
              <a:ext uri="{FF2B5EF4-FFF2-40B4-BE49-F238E27FC236}">
                <a16:creationId xmlns:a16="http://schemas.microsoft.com/office/drawing/2014/main" id="{FBBDABB4-8027-4AFD-BFAA-18251E9A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6902"/>
                </a:solidFill>
              </a:defRPr>
            </a:pPr>
            <a:r>
              <a:rPr sz="2550" b="1">
                <a:solidFill>
                  <a:srgbClr val="F76902"/>
                </a:solidFill>
              </a:rPr>
              <a:t>3,884</a:t>
            </a:r>
          </a:p>
        </p:txBody>
      </p:sp>
      <p:sp>
        <p:nvSpPr>
          <p:cNvPr id="8" name="meals-label">
            <a:extLst xmlns:a="http://schemas.openxmlformats.org/drawingml/2006/main">
              <a:ext uri="{FF2B5EF4-FFF2-40B4-BE49-F238E27FC236}">
                <a16:creationId xmlns:a16="http://schemas.microsoft.com/office/drawing/2014/main" id="{2AEC2591-1C0E-4BF5-B13F-90E9EE6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valid loaded meals</a:t>
            </a:r>
          </a:p>
        </p:txBody>
      </p:sp>
      <p:sp>
        <p:nvSpPr>
          <p:cNvPr id="9" name="windows-value">
            <a:extLst xmlns:a="http://schemas.openxmlformats.org/drawingml/2006/main">
              <a:ext uri="{FF2B5EF4-FFF2-40B4-BE49-F238E27FC236}">
                <a16:creationId xmlns:a16="http://schemas.microsoft.com/office/drawing/2014/main" id="{216F3C50-108B-422F-80D4-8F99593B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6902"/>
                </a:solidFill>
              </a:defRPr>
            </a:pPr>
            <a:r>
              <a:rPr sz="2550" b="1">
                <a:solidFill>
                  <a:srgbClr val="F76902"/>
                </a:solidFill>
              </a:rPr>
              <a:t>927</a:t>
            </a:r>
          </a:p>
        </p:txBody>
      </p:sp>
      <p:sp>
        <p:nvSpPr>
          <p:cNvPr id="10" name="windows-label">
            <a:extLst xmlns:a="http://schemas.openxmlformats.org/drawingml/2006/main">
              <a:ext uri="{FF2B5EF4-FFF2-40B4-BE49-F238E27FC236}">
                <a16:creationId xmlns:a16="http://schemas.microsoft.com/office/drawing/2014/main" id="{325CDF0D-B275-44BB-9CEC-B0FA6A3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526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eligible windows</a:t>
            </a:r>
          </a:p>
        </p:txBody>
      </p:sp>
      <p:sp>
        <p:nvSpPr>
          <p:cNvPr id="11" name="rate-value">
            <a:extLst xmlns:a="http://schemas.openxmlformats.org/drawingml/2006/main">
              <a:ext uri="{FF2B5EF4-FFF2-40B4-BE49-F238E27FC236}">
                <a16:creationId xmlns:a16="http://schemas.microsoft.com/office/drawing/2014/main" id="{3242B17B-6F4B-492E-8EDB-AB0CC93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6902"/>
                </a:solidFill>
              </a:defRPr>
            </a:pPr>
            <a:r>
              <a:rPr sz="2550" b="1">
                <a:solidFill>
                  <a:srgbClr val="F76902"/>
                </a:solidFill>
              </a:rPr>
              <a:t>23.87%</a:t>
            </a:r>
          </a:p>
        </p:txBody>
      </p:sp>
      <p:sp>
        <p:nvSpPr>
          <p:cNvPr id="12" name="rate-label">
            <a:extLst xmlns:a="http://schemas.openxmlformats.org/drawingml/2006/main">
              <a:ext uri="{FF2B5EF4-FFF2-40B4-BE49-F238E27FC236}">
                <a16:creationId xmlns:a16="http://schemas.microsoft.com/office/drawing/2014/main" id="{47C59EAD-4AA0-43D3-B350-BA7998DA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meal-window yield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57250" y="3048000"/>
          <a:ext xmlns:a="http://schemas.openxmlformats.org/drawingml/2006/main" cx="4762500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55c4165d3140fc"/>
          </a:graphicData>
        </a:graphic>
      </p:graphicFrame>
      <p:sp>
        <p:nvSpPr>
          <p:cNvPr id="14" name="chronos-card">
            <a:extLst xmlns:a="http://schemas.openxmlformats.org/drawingml/2006/main">
              <a:ext uri="{FF2B5EF4-FFF2-40B4-BE49-F238E27FC236}">
                <a16:creationId xmlns:a16="http://schemas.microsoft.com/office/drawing/2014/main" id="{377D6852-0674-4D3D-B988-74338B9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4857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15" name="chronos-accent">
            <a:extLst xmlns:a="http://schemas.openxmlformats.org/drawingml/2006/main">
              <a:ext uri="{FF2B5EF4-FFF2-40B4-BE49-F238E27FC236}">
                <a16:creationId xmlns:a16="http://schemas.microsoft.com/office/drawing/2014/main" id="{1AEE0009-AA98-49FE-9931-51563B65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857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16" name="chronos-heading">
            <a:extLst xmlns:a="http://schemas.openxmlformats.org/drawingml/2006/main">
              <a:ext uri="{FF2B5EF4-FFF2-40B4-BE49-F238E27FC236}">
                <a16:creationId xmlns:a16="http://schemas.microsoft.com/office/drawing/2014/main" id="{42B557DE-D2E6-4B86-8C53-8508370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1947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Chronos-2 feasibility</a:t>
            </a:r>
          </a:p>
        </p:txBody>
      </p:sp>
      <p:sp>
        <p:nvSpPr>
          <p:cNvPr id="17" name="chronos-body">
            <a:extLst xmlns:a="http://schemas.openxmlformats.org/drawingml/2006/main">
              <a:ext uri="{FF2B5EF4-FFF2-40B4-BE49-F238E27FC236}">
                <a16:creationId xmlns:a16="http://schemas.microsoft.com/office/drawing/2014/main" id="{EB85793E-24EA-42B2-B1D5-7D039B6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76675"/>
            <a:ext cx="44005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24-point CGM context → 24 q10/q50/q90 forecast 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Warm latency p50: 54.63 ms</a:t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Observed peak RSS: 810.83 MiB</a:t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Inference errors: 0</a:t>
            </a:r>
          </a:p>
        </p:txBody>
      </p:sp>
      <p:sp>
        <p:nvSpPr>
          <p:cNvPr id="18" name="data-caveat">
            <a:extLst xmlns:a="http://schemas.openxmlformats.org/drawingml/2006/main">
              <a:ext uri="{FF2B5EF4-FFF2-40B4-BE49-F238E27FC236}">
                <a16:creationId xmlns:a16="http://schemas.microsoft.com/office/drawing/2014/main" id="{4C089B2F-F2D8-459C-9944-C603969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One-window smoke proves interface/runtime feasibility—not forecast accuracy or clinical validity.</a:t>
            </a:r>
          </a:p>
        </p:txBody>
      </p:sp>
    </p:spTree>
    <p:extLst>
      <p:ext uri="{BB962C8B-B14F-4D97-AF65-F5344CB8AC3E}">
        <p14:creationId xmlns:p14="http://schemas.microsoft.com/office/powerpoint/2010/main" val="3469176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lication, database, and simulation paths work-kicker">
            <a:extLst xmlns:a="http://schemas.openxmlformats.org/drawingml/2006/main">
              <a:ext uri="{FF2B5EF4-FFF2-40B4-BE49-F238E27FC236}">
                <a16:creationId xmlns:a16="http://schemas.microsoft.com/office/drawing/2014/main" id="{82989F14-0AE8-4A48-9DBF-B06D60E0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EXECUTABLE EVIDENCE</a:t>
            </a:r>
          </a:p>
        </p:txBody>
      </p:sp>
      <p:sp>
        <p:nvSpPr>
          <p:cNvPr id="2" name="Application, database, and simulation paths work-title">
            <a:extLst xmlns:a="http://schemas.openxmlformats.org/drawingml/2006/main">
              <a:ext uri="{FF2B5EF4-FFF2-40B4-BE49-F238E27FC236}">
                <a16:creationId xmlns:a16="http://schemas.microsoft.com/office/drawing/2014/main" id="{B7D092A4-0C55-47CF-9D32-9C91A77D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Application, database, and simulation paths work</a:t>
            </a:r>
          </a:p>
        </p:txBody>
      </p:sp>
      <p:sp>
        <p:nvSpPr>
          <p:cNvPr id="3" name="app-card">
            <a:extLst xmlns:a="http://schemas.openxmlformats.org/drawingml/2006/main">
              <a:ext uri="{FF2B5EF4-FFF2-40B4-BE49-F238E27FC236}">
                <a16:creationId xmlns:a16="http://schemas.microsoft.com/office/drawing/2014/main" id="{19460E74-D4C6-4749-9B7C-EA64C0B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90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4" name="app-accent">
            <a:extLst xmlns:a="http://schemas.openxmlformats.org/drawingml/2006/main">
              <a:ext uri="{FF2B5EF4-FFF2-40B4-BE49-F238E27FC236}">
                <a16:creationId xmlns:a16="http://schemas.microsoft.com/office/drawing/2014/main" id="{9174784B-E62B-42AF-9ECB-E138859F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6902"/>
          </a:solidFill>
          <a:ln xmlns:a="http://schemas.openxmlformats.org/drawingml/2006/main" w="0">
            <a:solidFill>
              <a:srgbClr val="F76902"/>
            </a:solidFill>
            <a:prstDash val="solid"/>
          </a:ln>
        </p:spPr>
      </p:sp>
      <p:sp>
        <p:nvSpPr>
          <p:cNvPr id="5" name="app-heading">
            <a:extLst xmlns:a="http://schemas.openxmlformats.org/drawingml/2006/main">
              <a:ext uri="{FF2B5EF4-FFF2-40B4-BE49-F238E27FC236}">
                <a16:creationId xmlns:a16="http://schemas.microsoft.com/office/drawing/2014/main" id="{4CE82E96-AEF4-4D39-9291-38B99226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API + PWA</a:t>
            </a:r>
          </a:p>
        </p:txBody>
      </p:sp>
      <p:sp>
        <p:nvSpPr>
          <p:cNvPr id="6" name="app-body">
            <a:extLst xmlns:a="http://schemas.openxmlformats.org/drawingml/2006/main">
              <a:ext uri="{FF2B5EF4-FFF2-40B4-BE49-F238E27FC236}">
                <a16:creationId xmlns:a16="http://schemas.microsoft.com/office/drawing/2014/main" id="{A7A33935-92FA-4C80-84BB-93EEE43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733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24 history + 24 forecast points</a:t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5 tests · typecheck</a:t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Lint · production build</a:t>
            </a:r>
          </a:p>
        </p:txBody>
      </p:sp>
      <p:sp>
        <p:nvSpPr>
          <p:cNvPr id="7" name="db-card">
            <a:extLst xmlns:a="http://schemas.openxmlformats.org/drawingml/2006/main">
              <a:ext uri="{FF2B5EF4-FFF2-40B4-BE49-F238E27FC236}">
                <a16:creationId xmlns:a16="http://schemas.microsoft.com/office/drawing/2014/main" id="{A685461A-3942-41B4-B356-46E09ABE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190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D7D7"/>
            </a:solidFill>
            <a:prstDash val="solid"/>
          </a:ln>
        </p:spPr>
      </p:sp>
      <p:sp>
        <p:nvSpPr>
          <p:cNvPr id="8" name="db-accent">
            <a:extLst xmlns:a="http://schemas.openxmlformats.org/drawingml/2006/main">
              <a:ext uri="{FF2B5EF4-FFF2-40B4-BE49-F238E27FC236}">
                <a16:creationId xmlns:a16="http://schemas.microsoft.com/office/drawing/2014/main" id="{2315F689-D861-4558-BF9E-BBC9325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9" name="db-heading">
            <a:extLst xmlns:a="http://schemas.openxmlformats.org/drawingml/2006/main">
              <a:ext uri="{FF2B5EF4-FFF2-40B4-BE49-F238E27FC236}">
                <a16:creationId xmlns:a16="http://schemas.microsoft.com/office/drawing/2014/main" id="{97028340-DE26-400A-A4FF-D5234DB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Local database</a:t>
            </a:r>
          </a:p>
        </p:txBody>
      </p:sp>
      <p:sp>
        <p:nvSpPr>
          <p:cNvPr id="10" name="db-body">
            <a:extLst xmlns:a="http://schemas.openxmlformats.org/drawingml/2006/main">
              <a:ext uri="{FF2B5EF4-FFF2-40B4-BE49-F238E27FC236}">
                <a16:creationId xmlns:a16="http://schemas.microsoft.com/office/drawing/2014/main" id="{0B4D93C9-940E-445D-A00C-16B987C1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733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10 tables · RLS enabled</a:t>
            </a:r>
          </a:p>
          <a:p xmlns:a="http://schemas.openxmlformats.org/drawingml/2006/main">
            <a:pPr algn="l"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Clean reset · lint · 20 pgTAP tests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191000" y="1581150"/>
          <a:ext xmlns:a="http://schemas.openxmlformats.org/drawingml/2006/main" cx="709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ff4444bcb74e0b"/>
          </a:graphicData>
        </a:graphic>
      </p:graphicFrame>
      <p:sp>
        <p:nvSpPr>
          <p:cNvPr id="12" name="sim-metrics">
            <a:extLst xmlns:a="http://schemas.openxmlformats.org/drawingml/2006/main">
              <a:ext uri="{FF2B5EF4-FFF2-40B4-BE49-F238E27FC236}">
                <a16:creationId xmlns:a16="http://schemas.microsoft.com/office/drawing/2014/main" id="{4474E249-AACF-4860-AF61-9D613E0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72100"/>
            <a:ext cx="700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794E"/>
                </a:solidFill>
              </a:defRPr>
            </a:pPr>
            <a:r>
              <a:rPr sz="1350" b="1">
                <a:solidFill>
                  <a:srgbClr val="18794E"/>
                </a:solidFill>
              </a:rPr>
              <a:t>288 samples · 5-minute grid · two runs were byte-identical · 106.62–141.78 mg/dL</a:t>
            </a:r>
          </a:p>
        </p:txBody>
      </p:sp>
      <p:sp>
        <p:nvSpPr>
          <p:cNvPr id="13" name="sim-caveat">
            <a:extLst xmlns:a="http://schemas.openxmlformats.org/drawingml/2006/main">
              <a:ext uri="{FF2B5EF4-FFF2-40B4-BE49-F238E27FC236}">
                <a16:creationId xmlns:a16="http://schemas.microsoft.com/office/drawing/2014/main" id="{DABE98A8-3B9F-404E-876E-0B43EB5E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800725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6902"/>
                </a:solidFill>
              </a:defRPr>
            </a:pPr>
            <a:r>
              <a:rPr sz="1275" b="0">
                <a:solidFill>
                  <a:srgbClr val="F76902"/>
                </a:solidFill>
              </a:rPr>
              <a:t>Synthetic feasibility scenario only; not a therapy recommendation or validation of physiological realism.</a:t>
            </a:r>
          </a:p>
        </p:txBody>
      </p:sp>
    </p:spTree>
    <p:extLst>
      <p:ext uri="{BB962C8B-B14F-4D97-AF65-F5344CB8AC3E}">
        <p14:creationId xmlns:p14="http://schemas.microsoft.com/office/powerpoint/2010/main" val="1028554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very required Milestone 1 workstream has evidence-kicker">
            <a:extLst xmlns:a="http://schemas.openxmlformats.org/drawingml/2006/main">
              <a:ext uri="{FF2B5EF4-FFF2-40B4-BE49-F238E27FC236}">
                <a16:creationId xmlns:a16="http://schemas.microsoft.com/office/drawing/2014/main" id="{75FCEC65-483A-4432-8182-CBBFCEB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6902"/>
                </a:solidFill>
              </a:defRPr>
            </a:pPr>
            <a:r>
              <a:rPr sz="1275" b="1">
                <a:solidFill>
                  <a:srgbClr val="F76902"/>
                </a:solidFill>
              </a:rPr>
              <a:t>CLOSURE AUDIT</a:t>
            </a:r>
          </a:p>
        </p:txBody>
      </p:sp>
      <p:sp>
        <p:nvSpPr>
          <p:cNvPr id="2" name="Every required Milestone 1 workstream has evidence-title">
            <a:extLst xmlns:a="http://schemas.openxmlformats.org/drawingml/2006/main">
              <a:ext uri="{FF2B5EF4-FFF2-40B4-BE49-F238E27FC236}">
                <a16:creationId xmlns:a16="http://schemas.microsoft.com/office/drawing/2014/main" id="{C9987B54-D573-4F7B-BF97-5733117F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Every required Milestone 1 workstream has evidence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906125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81225"/>
                <a:gridCol w="7138555"/>
                <a:gridCol w="1586345"/>
              </a:tblGrid>
              <a:tr h="45508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Closure evidence</a:t>
                      </a:r>
                    </a:p>
                  </a:txBody>
                  <a:tcPr marL="91440" marR="91440" marT="45720" marB="45720"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7690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Research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Literature, model matrix, evaluation protocol, architecture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V1.0.4 provenance; 927 leakage-safe eligible windows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Chronos-2 24-step q10/q50/q90 CPU smoke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Application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Typed FastAPI + accessible PWA forecast chart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Database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10 tables; reset/lint; 20 pgTAP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Simulator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Pinned 288-point deterministic py-mgipsim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 blocking finding; privacy and no-dosing controls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Presentation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RIT-branded editable deck with speaker notes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794E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7F5EE"/>
                    </a:solidFill>
                  </a:tcPr>
                </a:tc>
              </a:tr>
            </a:tbl>
          </a:graphicData>
        </a:graphic>
      </p:graphicFrame>
      <p:sp>
        <p:nvSpPr>
          <p:cNvPr id="4" name="audit-summary">
            <a:extLst xmlns:a="http://schemas.openxmlformats.org/drawingml/2006/main">
              <a:ext uri="{FF2B5EF4-FFF2-40B4-BE49-F238E27FC236}">
                <a16:creationId xmlns:a16="http://schemas.microsoft.com/office/drawing/2014/main" id="{B7316828-0987-45ED-9B82-A0CE4B0B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33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794E"/>
                </a:solidFill>
              </a:defRPr>
            </a:pPr>
            <a:r>
              <a:rPr sz="1425" b="1">
                <a:solidFill>
                  <a:srgbClr val="18794E"/>
                </a:solidFill>
              </a:rPr>
              <a:t>Closure decision: PASS — with documented research limitations carried into Milestone 2.</a:t>
            </a:r>
          </a:p>
        </p:txBody>
      </p:sp>
    </p:spTree>
    <p:extLst>
      <p:ext uri="{BB962C8B-B14F-4D97-AF65-F5344CB8AC3E}">
        <p14:creationId xmlns:p14="http://schemas.microsoft.com/office/powerpoint/2010/main" val="215580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69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next-kicker">
            <a:extLst xmlns:a="http://schemas.openxmlformats.org/drawingml/2006/main">
              <a:ext uri="{FF2B5EF4-FFF2-40B4-BE49-F238E27FC236}">
                <a16:creationId xmlns:a16="http://schemas.microsoft.com/office/drawing/2014/main" id="{5B30D10E-DE10-4EEA-BDEF-704E090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MILESTONE 2 · DATA PIPELINE AND NUTRITION</a:t>
            </a:r>
          </a:p>
        </p:txBody>
      </p:sp>
      <p:sp>
        <p:nvSpPr>
          <p:cNvPr id="2" name="next-title">
            <a:extLst xmlns:a="http://schemas.openxmlformats.org/drawingml/2006/main">
              <a:ext uri="{FF2B5EF4-FFF2-40B4-BE49-F238E27FC236}">
                <a16:creationId xmlns:a16="http://schemas.microsoft.com/office/drawing/2014/main" id="{C937BFD2-2A85-49ED-91AB-DA3C8F2D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Next: benchmark, integrate, and test context value</a:t>
            </a:r>
          </a:p>
        </p:txBody>
      </p:sp>
      <p:sp>
        <p:nvSpPr>
          <p:cNvPr id="3" name="next-1">
            <a:extLst xmlns:a="http://schemas.openxmlformats.org/drawingml/2006/main">
              <a:ext uri="{FF2B5EF4-FFF2-40B4-BE49-F238E27FC236}">
                <a16:creationId xmlns:a16="http://schemas.microsoft.com/office/drawing/2014/main" id="{75BA6FAC-63FE-40CD-87BD-F4EF646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6902"/>
                </a:solidFill>
              </a:defRPr>
            </a:pPr>
            <a:r>
              <a:rPr sz="1725" b="1">
                <a:solidFill>
                  <a:srgbClr val="F76902"/>
                </a:solidFill>
              </a:rPr>
              <a:t>1</a:t>
            </a:r>
          </a:p>
        </p:txBody>
      </p:sp>
      <p:sp>
        <p:nvSpPr>
          <p:cNvPr id="4" name="next-1-heading">
            <a:extLst xmlns:a="http://schemas.openxmlformats.org/drawingml/2006/main">
              <a:ext uri="{FF2B5EF4-FFF2-40B4-BE49-F238E27FC236}">
                <a16:creationId xmlns:a16="http://schemas.microsoft.com/office/drawing/2014/main" id="{A3FC2978-E1DE-4130-A826-27448B7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45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5" name="next-1-body">
            <a:extLst xmlns:a="http://schemas.openxmlformats.org/drawingml/2006/main">
              <a:ext uri="{FF2B5EF4-FFF2-40B4-BE49-F238E27FC236}">
                <a16:creationId xmlns:a16="http://schemas.microsoft.com/office/drawing/2014/main" id="{F541CE5C-8AE4-4DFA-B624-0ABC4B9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9552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Evaluate persistence vs. Chronos-2 on participant-level splits with MAE, RMSE, calibration, and runtime.</a:t>
            </a:r>
          </a:p>
        </p:txBody>
      </p:sp>
      <p:sp>
        <p:nvSpPr>
          <p:cNvPr id="6" name="next-2">
            <a:extLst xmlns:a="http://schemas.openxmlformats.org/drawingml/2006/main">
              <a:ext uri="{FF2B5EF4-FFF2-40B4-BE49-F238E27FC236}">
                <a16:creationId xmlns:a16="http://schemas.microsoft.com/office/drawing/2014/main" id="{6187196A-C414-4BE5-9D5E-5560D0C8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6902"/>
                </a:solidFill>
              </a:defRPr>
            </a:pPr>
            <a:r>
              <a:rPr sz="1725" b="1">
                <a:solidFill>
                  <a:srgbClr val="F76902"/>
                </a:solidFill>
              </a:rPr>
              <a:t>2</a:t>
            </a:r>
          </a:p>
        </p:txBody>
      </p:sp>
      <p:sp>
        <p:nvSpPr>
          <p:cNvPr id="7" name="next-2-heading">
            <a:extLst xmlns:a="http://schemas.openxmlformats.org/drawingml/2006/main">
              <a:ext uri="{FF2B5EF4-FFF2-40B4-BE49-F238E27FC236}">
                <a16:creationId xmlns:a16="http://schemas.microsoft.com/office/drawing/2014/main" id="{45EA2EC7-57FE-4A11-BAD4-958F354C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14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Context ablation</a:t>
            </a:r>
          </a:p>
        </p:txBody>
      </p:sp>
      <p:sp>
        <p:nvSpPr>
          <p:cNvPr id="8" name="next-2-body">
            <a:extLst xmlns:a="http://schemas.openxmlformats.org/drawingml/2006/main">
              <a:ext uri="{FF2B5EF4-FFF2-40B4-BE49-F238E27FC236}">
                <a16:creationId xmlns:a16="http://schemas.microsoft.com/office/drawing/2014/main" id="{80AB819E-8006-44B7-A425-80483D8C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9565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Compare CGM-only, CGM + insulin, and CGM + insulin + nutrition under the same leakage-safe protocol.</a:t>
            </a:r>
          </a:p>
        </p:txBody>
      </p:sp>
      <p:sp>
        <p:nvSpPr>
          <p:cNvPr id="9" name="next-3">
            <a:extLst xmlns:a="http://schemas.openxmlformats.org/drawingml/2006/main">
              <a:ext uri="{FF2B5EF4-FFF2-40B4-BE49-F238E27FC236}">
                <a16:creationId xmlns:a16="http://schemas.microsoft.com/office/drawing/2014/main" id="{463622AA-33BD-4E4B-B311-7094C20F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6902"/>
                </a:solidFill>
              </a:defRPr>
            </a:pPr>
            <a:r>
              <a:rPr sz="1725" b="1">
                <a:solidFill>
                  <a:srgbClr val="F76902"/>
                </a:solidFill>
              </a:rPr>
              <a:t>3</a:t>
            </a:r>
          </a:p>
        </p:txBody>
      </p:sp>
      <p:sp>
        <p:nvSpPr>
          <p:cNvPr id="10" name="next-3-heading">
            <a:extLst xmlns:a="http://schemas.openxmlformats.org/drawingml/2006/main">
              <a:ext uri="{FF2B5EF4-FFF2-40B4-BE49-F238E27FC236}">
                <a16:creationId xmlns:a16="http://schemas.microsoft.com/office/drawing/2014/main" id="{07D0F744-74FF-4651-800C-D45C33D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14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Product integration</a:t>
            </a:r>
          </a:p>
        </p:txBody>
      </p:sp>
      <p:sp>
        <p:nvSpPr>
          <p:cNvPr id="11" name="next-3-body">
            <a:extLst xmlns:a="http://schemas.openxmlformats.org/drawingml/2006/main">
              <a:ext uri="{FF2B5EF4-FFF2-40B4-BE49-F238E27FC236}">
                <a16:creationId xmlns:a16="http://schemas.microsoft.com/office/drawing/2014/main" id="{ECD65CCB-98DC-49B4-A959-B6305A5D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9577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Implement meal/nutrition capture and connect validated forecast outputs without exposing research data.</a:t>
            </a:r>
          </a:p>
        </p:txBody>
      </p:sp>
      <p:sp>
        <p:nvSpPr>
          <p:cNvPr id="12" name="advisor-input">
            <a:extLst xmlns:a="http://schemas.openxmlformats.org/drawingml/2006/main">
              <a:ext uri="{FF2B5EF4-FFF2-40B4-BE49-F238E27FC236}">
                <a16:creationId xmlns:a16="http://schemas.microsoft.com/office/drawing/2014/main" id="{929A7A6E-F8DE-47C9-9391-320F6325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53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Advisor input requested: confirm primary evaluation metrics and whether TimesFM should remain optional.</a:t>
            </a:r>
          </a:p>
        </p:txBody>
      </p:sp>
    </p:spTree>
    <p:extLst>
      <p:ext uri="{BB962C8B-B14F-4D97-AF65-F5344CB8AC3E}">
        <p14:creationId xmlns:p14="http://schemas.microsoft.com/office/powerpoint/2010/main" val="3878397237"/>
      </p:ext>
    </p:extLst>
  </p:cSld>
</p:sld>
</file>

<file path=ppt/theme/theme1.xml><?xml version="1.0" encoding="utf-8"?>
<a:theme xmlns:a="http://schemas.openxmlformats.org/drawingml/2006/main" name="Office Theme">
  <a:themeElements>
    <a:clrScheme name="RIT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76904"/>
      </a:accent1>
      <a:accent2>
        <a:srgbClr val="F6BE00"/>
      </a:accent2>
      <a:accent3>
        <a:srgbClr val="C3D500"/>
      </a:accent3>
      <a:accent4>
        <a:srgbClr val="009BBD"/>
      </a:accent4>
      <a:accent5>
        <a:srgbClr val="DA291B"/>
      </a:accent5>
      <a:accent6>
        <a:srgbClr val="7D54C7"/>
      </a:accent6>
      <a:hlink>
        <a:srgbClr val="F76904"/>
      </a:hlink>
      <a:folHlink>
        <a:srgbClr val="7174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T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2026-09-30T01:47:15.8360000Z</dcterms:created>
  <dcterms:modified xsi:type="dcterms:W3CDTF">2026-09-30T01:47:15.8360000Z</dcterms:modified>
</coreProperties>
</file>