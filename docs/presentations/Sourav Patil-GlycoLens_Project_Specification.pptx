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5" d="100"/>
          <a:sy n="165" d="100"/>
        </p:scale>
        <p:origin x="1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68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is a project specification deck, not a results deck. Introduce GlycoLens as an applied AI systems capstone focused on meal understanding and personalized glucose response forecasting for Type 1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make the bigger picture concrete. T1D meal decisions combine CGM, meal composition, insulin, activity, and personal variability. Use this to motivate why GlycoLens is a context-aware AI system, not a simple logging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goal tightly. Do not overclaim medical decision support. The project is a research prototype that investigates inference, context, and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literature slide. The goal is not to claim novelty in glucose prediction itself. Instead, present the field and identify the specific gap GlycoLens addresses: pretrained inference context plus app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now is the right time for the project. Pretrained time-series and CGM foundation models make inference-first experimentation plausible, while existing apps demonstrate that a useful product must do more than simply log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the memorable “system in one picture” slide. Explain that the user does not need to understand model adapters or covariates; the app turns meal and context into concrete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no results are claimed yet. This slide is the scientific-method core: compare models and context configurations on the same meal-centered event windows, using forecast and system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architecture simple. The panel needs to understand that the app is real and deliverable: Next.js PWA, FastAPI backend, PostgreSQL/pgvector, and model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imply progress or results. Speak in future/planned language. The main idea is that there is a realistic semester plan and scope-cut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deliverables, not claims. Make the safety boundary explicit. End with the key sentence: the capstone’s value is the evaluated system and evidence-backed conclusion, regardless of which model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17720" y="960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617720" y="13898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GlycoLens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645152" y="2157984"/>
            <a:ext cx="6126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meal understanding and personalized glucose response prediction for Type 1 Diabetes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645152" y="2999232"/>
            <a:ext cx="4754880" cy="0"/>
          </a:xfrm>
          <a:prstGeom prst="line">
            <a:avLst/>
          </a:prstGeom>
          <a:noFill/>
          <a:ln w="254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645152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Patil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645152" y="3621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Professor </a:t>
            </a:r>
            <a:r>
              <a:rPr lang="en-US" sz="135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Haibo</a:t>
            </a:r>
            <a:r>
              <a:rPr lang="en-US" sz="135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45152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CSCI-788 • September 22, 2026</a:t>
            </a:r>
            <a:endParaRPr lang="en-US" sz="1280" dirty="0"/>
          </a:p>
        </p:txBody>
      </p:sp>
      <p:sp>
        <p:nvSpPr>
          <p:cNvPr id="10" name="Rectangle 9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This Problem Matter?</a:t>
            </a:r>
            <a:endParaRPr lang="en-US" sz="2700" dirty="0"/>
          </a:p>
        </p:txBody>
      </p:sp>
      <p:sp>
        <p:nvSpPr>
          <p:cNvPr id="6" name="TextBox 5"/>
          <p:cNvSpPr txBox="1"/>
          <p:nvPr/>
        </p:nvSpPr>
        <p:spPr>
          <a:xfrm>
            <a:off x="768096" y="1353312"/>
            <a:ext cx="804672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80" b="0">
                <a:solidFill>
                  <a:srgbClr val="5B6778"/>
                </a:solidFill>
                <a:latin typeface="Aptos"/>
              </a:rPr>
              <a:t>Post-meal glucose response is not driven by food alone. It depends on multiple interacting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01952"/>
            <a:ext cx="5029200" cy="34290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3383280"/>
            <a:ext cx="1554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222B39"/>
                </a:solidFill>
                <a:latin typeface="Aptos"/>
              </a:rPr>
              <a:t>signals combine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2084831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2313432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>
                <a:solidFill>
                  <a:srgbClr val="F76902"/>
                </a:solidFill>
                <a:latin typeface="Aptos"/>
              </a:rPr>
              <a:t>MEAL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587752"/>
            <a:ext cx="169164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222B39"/>
                </a:solidFill>
                <a:latin typeface="Aptos"/>
              </a:rPr>
              <a:t>carbs
protein, fat, fiber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48840"/>
            <a:ext cx="2084831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313432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>
                <a:solidFill>
                  <a:srgbClr val="F76902"/>
                </a:solidFill>
                <a:latin typeface="Aptos"/>
              </a:rPr>
              <a:t>CURRENT CGM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87752"/>
            <a:ext cx="169164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222B39"/>
                </a:solidFill>
                <a:latin typeface="Aptos"/>
              </a:rPr>
              <a:t>glucose level
trend and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40480"/>
            <a:ext cx="2084831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005072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>
                <a:solidFill>
                  <a:srgbClr val="F76902"/>
                </a:solidFill>
                <a:latin typeface="Aptos"/>
              </a:rPr>
              <a:t>INSULIN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279392"/>
            <a:ext cx="169164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222B39"/>
                </a:solidFill>
                <a:latin typeface="Aptos"/>
              </a:rPr>
              <a:t>recent bolus
basal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840480"/>
            <a:ext cx="2084831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2" y="4005072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>
                <a:solidFill>
                  <a:srgbClr val="F76902"/>
                </a:solidFill>
                <a:latin typeface="Aptos"/>
              </a:rPr>
              <a:t>ACTIVITY &amp;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279392"/>
            <a:ext cx="169164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>
                <a:solidFill>
                  <a:srgbClr val="222B39"/>
                </a:solidFill>
                <a:latin typeface="Aptos"/>
              </a:rPr>
              <a:t>movement, sleep
time of day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3593592"/>
            <a:ext cx="914400" cy="0"/>
          </a:xfrm>
          <a:prstGeom prst="line">
            <a:avLst/>
          </a:prstGeom>
          <a:ln w="30480">
            <a:solidFill>
              <a:srgbClr val="F769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05472" y="2761488"/>
            <a:ext cx="1993392" cy="1481328"/>
          </a:xfrm>
          <a:prstGeom prst="roundRect">
            <a:avLst/>
          </a:prstGeom>
          <a:solidFill>
            <a:srgbClr val="F76902"/>
          </a:solidFill>
          <a:ln w="12700">
            <a:solidFill>
              <a:srgbClr val="F769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3154680"/>
            <a:ext cx="141732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Post-meal
glucose
response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53728" y="3593592"/>
            <a:ext cx="393192" cy="0"/>
          </a:xfrm>
          <a:prstGeom prst="line">
            <a:avLst/>
          </a:prstGeom>
          <a:ln w="30480">
            <a:solidFill>
              <a:srgbClr val="F769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2240280"/>
            <a:ext cx="19659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57232" y="2487168"/>
            <a:ext cx="1234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80" b="1">
                <a:solidFill>
                  <a:srgbClr val="F76902"/>
                </a:solidFill>
                <a:latin typeface="Aptos"/>
              </a:rPr>
              <a:t>USER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788920"/>
            <a:ext cx="1481328" cy="960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60" b="0">
                <a:solidFill>
                  <a:srgbClr val="222B39"/>
                </a:solidFill>
                <a:latin typeface="Aptos"/>
              </a:rPr>
              <a:t>CGM devices show
dense data, but users
still interpret what a
specific meal might
mean today.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93808" y="4425696"/>
            <a:ext cx="1335024" cy="0"/>
          </a:xfrm>
          <a:prstGeom prst="line">
            <a:avLst/>
          </a:prstGeom>
          <a:ln w="1270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93808" y="3886200"/>
            <a:ext cx="0" cy="539496"/>
          </a:xfrm>
          <a:prstGeom prst="line">
            <a:avLst/>
          </a:prstGeom>
          <a:ln w="1270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93808" y="4297680"/>
            <a:ext cx="256032" cy="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149840" y="4261104"/>
            <a:ext cx="0" cy="36576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49840" y="4261104"/>
            <a:ext cx="237744" cy="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387584" y="4187952"/>
            <a:ext cx="0" cy="73152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87584" y="4187952"/>
            <a:ext cx="237744" cy="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625328" y="4096512"/>
            <a:ext cx="0" cy="9144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625328" y="4096512"/>
            <a:ext cx="256032" cy="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881360" y="4096512"/>
            <a:ext cx="0" cy="0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81360" y="4096512"/>
            <a:ext cx="256032" cy="54864"/>
          </a:xfrm>
          <a:prstGeom prst="line">
            <a:avLst/>
          </a:prstGeom>
          <a:ln w="25400">
            <a:solidFill>
              <a:srgbClr val="256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875520" y="4526280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50" b="0">
                <a:solidFill>
                  <a:srgbClr val="5B6778"/>
                </a:solidFill>
                <a:latin typeface="Aptos"/>
              </a:rPr>
              <a:t>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3928" y="4526280"/>
            <a:ext cx="5669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50" b="0">
                <a:solidFill>
                  <a:srgbClr val="5B6778"/>
                </a:solidFill>
                <a:latin typeface="Aptos"/>
              </a:rPr>
              <a:t>+120m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6053328"/>
            <a:ext cx="2143215" cy="861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60" b="0" dirty="0">
                <a:solidFill>
                  <a:srgbClr val="5B6778"/>
                </a:solidFill>
                <a:latin typeface="Aptos"/>
              </a:rPr>
              <a:t>Sources: </a:t>
            </a:r>
            <a:r>
              <a:rPr sz="560" b="0" dirty="0" err="1">
                <a:solidFill>
                  <a:srgbClr val="5B6778"/>
                </a:solidFill>
                <a:latin typeface="Aptos"/>
              </a:rPr>
              <a:t>Lubasinski</a:t>
            </a:r>
            <a:r>
              <a:rPr sz="560" b="0" dirty="0">
                <a:solidFill>
                  <a:srgbClr val="5B6778"/>
                </a:solidFill>
                <a:latin typeface="Aptos"/>
              </a:rPr>
              <a:t> et al. 2024 nutrition-aware T1D prediction review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Project Goal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GlycoLens targets four practical questions around a planned or logged meal.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59536" y="2395728"/>
            <a:ext cx="530352" cy="53035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24128" y="25328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0976" y="2670048"/>
            <a:ext cx="215798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133856" y="2862072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 this meal?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33856" y="35112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barcode, search, or recipe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3218688" y="3310128"/>
            <a:ext cx="310896" cy="0"/>
          </a:xfrm>
          <a:prstGeom prst="line">
            <a:avLst/>
          </a:prstGeom>
          <a:noFill/>
          <a:ln w="2159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648456" y="2395728"/>
            <a:ext cx="530352" cy="53035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813048" y="25328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39896" y="2670048"/>
            <a:ext cx="215798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922776" y="2862072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after similar meals before?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922776" y="35112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same-user historical evidence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007608" y="3310128"/>
            <a:ext cx="310896" cy="0"/>
          </a:xfrm>
          <a:prstGeom prst="line">
            <a:avLst/>
          </a:prstGeom>
          <a:noFill/>
          <a:ln w="2159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37376" y="2395728"/>
            <a:ext cx="530352" cy="53035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601968" y="25328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28816" y="2670048"/>
            <a:ext cx="215798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711696" y="2862072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model forecast for the next 2 hours?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711696" y="35112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+ uncertainty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8796528" y="3310128"/>
            <a:ext cx="310896" cy="0"/>
          </a:xfrm>
          <a:prstGeom prst="line">
            <a:avLst/>
          </a:prstGeom>
          <a:noFill/>
          <a:ln w="2159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9226296" y="2395728"/>
            <a:ext cx="530352" cy="53035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9390888" y="25328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317736" y="2670048"/>
            <a:ext cx="215798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9500616" y="2862072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portion change affect the prediction?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500616" y="35112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comparison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1024128" y="4498848"/>
            <a:ext cx="73152" cy="960120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1298448" y="4745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2039112" y="4709160"/>
            <a:ext cx="8183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evaluate an end-to-end research prototype that converts meal input + T1D context into an understandable probabilistic glucose forecast.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1298448" y="5257800"/>
            <a:ext cx="8915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1298448" y="54041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 no insulin-dose recommendation, no pump control, no clinical-grade claims.</a:t>
            </a:r>
            <a:endParaRPr lang="en-US" sz="1250" dirty="0"/>
          </a:p>
        </p:txBody>
      </p:sp>
      <p:sp>
        <p:nvSpPr>
          <p:cNvPr id="39" name="Rectangle 38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620" b="1">
                <a:solidFill>
                  <a:srgbClr val="222B39"/>
                </a:solidFill>
              </a:rPr>
              <a:t>What Has Already Been Done? Glucose and Meal Prediction</a:t>
            </a:r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is not starting from zero. The research gap is about integration, inference context, and app-centered delivery.</a:t>
            </a:r>
            <a:endParaRPr lang="en-US" sz="1460" dirty="0"/>
          </a:p>
        </p:txBody>
      </p:sp>
      <p:sp>
        <p:nvSpPr>
          <p:cNvPr id="7" name="Shape 4"/>
          <p:cNvSpPr/>
          <p:nvPr/>
        </p:nvSpPr>
        <p:spPr>
          <a:xfrm>
            <a:off x="841248" y="1965960"/>
            <a:ext cx="2788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042416" y="215798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2B5D83"/>
          </a:solidFill>
          <a:ln w="12700">
            <a:solidFill>
              <a:srgbClr val="2B5D8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24712" y="22265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field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42416" y="2615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Nutrition-aware forecasting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1042416" y="3163824"/>
            <a:ext cx="234086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2024 review identified 138 nutrition-aware T1D glucose-prediction models, but richer meal composition is still less common than carbohydrate-based inputs.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4169664" y="1965960"/>
            <a:ext cx="2788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370832" y="215798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256A3B"/>
          </a:solidFill>
          <a:ln w="12700">
            <a:solidFill>
              <a:srgbClr val="256A3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453128" y="22265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matters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4370832" y="2615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Postprandial prediction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4370832" y="3163824"/>
            <a:ext cx="234086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PPGR work uses glucose history, insulin, meal nutrients, time, and personal features:evidence that context can matter.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498080" y="1965960"/>
            <a:ext cx="2788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699248" y="215798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C75300"/>
          </a:solidFill>
          <a:ln w="12700">
            <a:solidFill>
              <a:srgbClr val="C753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781544" y="22265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inspiration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7699248" y="2615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CGM-specific representations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7699248" y="3163824"/>
            <a:ext cx="234086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CGMformer_Diet and GlucoFM-style studies use pre-meal CGM and meal nutrition to predict a two-hour post-meal trajectory.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1152144" y="4956048"/>
            <a:ext cx="9738360" cy="658368"/>
          </a:xfrm>
          <a:prstGeom prst="roundRect">
            <a:avLst>
              <a:gd name="adj" fmla="val 13889"/>
            </a:avLst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408176" y="5148072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for GlycoLens: evaluate current pretrained models with progressively richer T1D meal context, then turn the output into a practical user-facing workflow.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85216" y="60533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Lubasinski et al. 2024; CGMformer paper; GlucoFM Google Research; GlycoLens literature survey</a:t>
            </a:r>
            <a:endParaRPr lang="en-US" sz="560" dirty="0"/>
          </a:p>
        </p:txBody>
      </p:sp>
      <p:sp>
        <p:nvSpPr>
          <p:cNvPr id="25" name="Rectangle 2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620" b="1">
                <a:solidFill>
                  <a:srgbClr val="222B39"/>
                </a:solidFill>
              </a:rPr>
              <a:t>What Has Already Been Done? Foundation Models and Apps</a:t>
            </a:r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existing worlds are converging: time-series foundation models and diabetes data applications.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841248" y="187452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078992" y="208483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B5D83"/>
          </a:solidFill>
          <a:ln w="12700">
            <a:solidFill>
              <a:srgbClr val="2B5D8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61288" y="21534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LANDSCAPE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8992" y="2542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pretrained models now?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24712" y="2962656"/>
            <a:ext cx="4617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Chronos-2: zero-shot, multivariate/covariate-informed, quantile forecasts</a:t>
            </a:r>
            <a:endParaRPr lang="en-US" sz="11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TimesFM-3: native multivariate forecasting + covariates</a:t>
            </a:r>
            <a:endParaRPr lang="en-US" sz="11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GlucoFM-Bench: strong zero/few-shot glucose results across public datasets</a:t>
            </a:r>
            <a:endParaRPr lang="en-US" sz="11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GlucoFM: direct evidence for meal/context-aware CGM representations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446520" y="1874520"/>
            <a:ext cx="48920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702552" y="2084832"/>
            <a:ext cx="1755648" cy="310896"/>
          </a:xfrm>
          <a:prstGeom prst="roundRect">
            <a:avLst>
              <a:gd name="adj" fmla="val 23529"/>
            </a:avLst>
          </a:prstGeom>
          <a:solidFill>
            <a:srgbClr val="C75300"/>
          </a:solidFill>
          <a:ln w="12700">
            <a:solidFill>
              <a:srgbClr val="C753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784848" y="21534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LANDSCAPE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702552" y="25420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diabetes apps already log and visualize context.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02552" y="3236976"/>
            <a:ext cx="40416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Undermyfork, Tidepool, Glooko and mySugr show that meal/glucose logging and timeline visualization are already product expectations.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6702552" y="4169664"/>
            <a:ext cx="40416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GlycoLens should not be "just another logbook."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6318504" y="2194560"/>
            <a:ext cx="0" cy="28803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947672" y="5504688"/>
            <a:ext cx="8156448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2240280" y="5669280"/>
            <a:ext cx="7571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GlycoLens position: verified nutrition → pretrained inference → uncertainty → personal historical evidence → portion comparison.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585216" y="60533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Chronos-2, TimesFM-3, GlucoFM-Bench, Undermyfork/Tidepool/Glooko/mySugr public pages</a:t>
            </a:r>
            <a:endParaRPr lang="en-US" sz="560" dirty="0"/>
          </a:p>
        </p:txBody>
      </p:sp>
      <p:sp>
        <p:nvSpPr>
          <p:cNvPr id="22" name="Rectangle 2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" y="-15433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GlycoLens End-to-End Workflow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deliverable is a mobile-first meal intelligence workflow, not a standalone model script.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2157984" y="2743200"/>
            <a:ext cx="420624" cy="0"/>
          </a:xfrm>
          <a:prstGeom prst="line">
            <a:avLst/>
          </a:prstGeom>
          <a:noFill/>
          <a:ln w="1905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078224" y="2743200"/>
            <a:ext cx="420624" cy="0"/>
          </a:xfrm>
          <a:prstGeom prst="line">
            <a:avLst/>
          </a:prstGeom>
          <a:noFill/>
          <a:ln w="1905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888736" y="2743200"/>
            <a:ext cx="530352" cy="0"/>
          </a:xfrm>
          <a:prstGeom prst="line">
            <a:avLst/>
          </a:prstGeom>
          <a:noFill/>
          <a:ln w="1905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808976" y="2743200"/>
            <a:ext cx="420624" cy="0"/>
          </a:xfrm>
          <a:prstGeom prst="line">
            <a:avLst/>
          </a:prstGeom>
          <a:noFill/>
          <a:ln w="1905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729215" y="2743200"/>
            <a:ext cx="374905" cy="0"/>
          </a:xfrm>
          <a:prstGeom prst="line">
            <a:avLst/>
          </a:prstGeom>
          <a:noFill/>
          <a:ln w="1905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58368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68096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input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768096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• search • recipe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578608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688336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nutrition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2688336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/ Open Food Facts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4498848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608576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T1D context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4608576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CGM • insulin • time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6419088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528816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model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6528816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Chronos-2 / TimesFM-3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8229600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449056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forecast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449056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+ uncertainty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10104120" y="2240280"/>
            <a:ext cx="1536192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0213848" y="24414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evidence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10213848" y="27889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meals • portions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1901952" y="3995928"/>
            <a:ext cx="827532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2212848" y="4251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User-facing result screen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304288" y="5276088"/>
            <a:ext cx="2468880" cy="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2304288" y="4617720"/>
            <a:ext cx="0" cy="658368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2304288" y="5091745"/>
            <a:ext cx="296266" cy="0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600554" y="5065410"/>
            <a:ext cx="320954" cy="0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921508" y="5019324"/>
            <a:ext cx="320954" cy="0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3242462" y="4881067"/>
            <a:ext cx="345643" cy="0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3588106" y="4821814"/>
            <a:ext cx="370332" cy="32918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3958438" y="4854732"/>
            <a:ext cx="370332" cy="79004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328770" y="4933737"/>
            <a:ext cx="444398" cy="26335"/>
          </a:xfrm>
          <a:prstGeom prst="line">
            <a:avLst/>
          </a:prstGeom>
          <a:noFill/>
          <a:ln w="254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2304288" y="5012741"/>
            <a:ext cx="296266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2304288" y="5183916"/>
            <a:ext cx="296266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2600554" y="4986406"/>
            <a:ext cx="320954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1"/>
          <p:cNvSpPr/>
          <p:nvPr/>
        </p:nvSpPr>
        <p:spPr>
          <a:xfrm>
            <a:off x="2600554" y="5157582"/>
            <a:ext cx="320954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2921508" y="4940320"/>
            <a:ext cx="320954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3"/>
          <p:cNvSpPr/>
          <p:nvPr/>
        </p:nvSpPr>
        <p:spPr>
          <a:xfrm>
            <a:off x="2921508" y="5111496"/>
            <a:ext cx="320954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4"/>
          <p:cNvSpPr/>
          <p:nvPr/>
        </p:nvSpPr>
        <p:spPr>
          <a:xfrm>
            <a:off x="3242462" y="4802063"/>
            <a:ext cx="345643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5"/>
          <p:cNvSpPr/>
          <p:nvPr/>
        </p:nvSpPr>
        <p:spPr>
          <a:xfrm>
            <a:off x="3242462" y="4973239"/>
            <a:ext cx="345643" cy="0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/>
          <p:cNvSpPr/>
          <p:nvPr/>
        </p:nvSpPr>
        <p:spPr>
          <a:xfrm>
            <a:off x="3588106" y="4742810"/>
            <a:ext cx="370332" cy="32918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7"/>
          <p:cNvSpPr/>
          <p:nvPr/>
        </p:nvSpPr>
        <p:spPr>
          <a:xfrm>
            <a:off x="3588106" y="4913986"/>
            <a:ext cx="370332" cy="32918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8"/>
          <p:cNvSpPr/>
          <p:nvPr/>
        </p:nvSpPr>
        <p:spPr>
          <a:xfrm>
            <a:off x="3958438" y="4775728"/>
            <a:ext cx="370332" cy="79004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9"/>
          <p:cNvSpPr/>
          <p:nvPr/>
        </p:nvSpPr>
        <p:spPr>
          <a:xfrm>
            <a:off x="3958438" y="4946904"/>
            <a:ext cx="370332" cy="79004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/>
          <p:cNvSpPr/>
          <p:nvPr/>
        </p:nvSpPr>
        <p:spPr>
          <a:xfrm>
            <a:off x="4328770" y="4854732"/>
            <a:ext cx="444398" cy="26335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4328770" y="5025908"/>
            <a:ext cx="444398" cy="26335"/>
          </a:xfrm>
          <a:prstGeom prst="line">
            <a:avLst/>
          </a:prstGeom>
          <a:noFill/>
          <a:ln w="1524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2350008" y="53492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4270248" y="53492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+120m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248656" y="4617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mg/dL</a:t>
            </a:r>
            <a:endParaRPr lang="en-US" sz="1080" dirty="0"/>
          </a:p>
        </p:txBody>
      </p:sp>
      <p:sp>
        <p:nvSpPr>
          <p:cNvPr id="58" name="Text 55"/>
          <p:cNvSpPr/>
          <p:nvPr/>
        </p:nvSpPr>
        <p:spPr>
          <a:xfrm>
            <a:off x="6327648" y="4617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 mg/dL</a:t>
            </a:r>
            <a:endParaRPr lang="en-US" sz="1080" dirty="0"/>
          </a:p>
        </p:txBody>
      </p:sp>
      <p:sp>
        <p:nvSpPr>
          <p:cNvPr id="59" name="Text 56"/>
          <p:cNvSpPr/>
          <p:nvPr/>
        </p:nvSpPr>
        <p:spPr>
          <a:xfrm>
            <a:off x="7406640" y="4617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mg/dL</a:t>
            </a:r>
            <a:endParaRPr lang="en-US" sz="1080" dirty="0"/>
          </a:p>
        </p:txBody>
      </p:sp>
      <p:sp>
        <p:nvSpPr>
          <p:cNvPr id="60" name="Text 57"/>
          <p:cNvSpPr/>
          <p:nvPr/>
        </p:nvSpPr>
        <p:spPr>
          <a:xfrm>
            <a:off x="8503920" y="471830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treatment advice; this is a model-based scenario with uncertainty.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585216" y="60533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USDA/Open Food Facts docs</a:t>
            </a:r>
            <a:endParaRPr lang="en-US" sz="560" dirty="0"/>
          </a:p>
        </p:txBody>
      </p:sp>
      <p:sp>
        <p:nvSpPr>
          <p:cNvPr id="62" name="Rectangle 6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 &amp; Evaluation Plan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experiment is prospective: we will test whether richer context improves meal-centered forecasting.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60704" y="208483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question: Which pretrained model, with which T1D-specific inference context, provides the best balance of accuracy, uncertainty quality, latency, and usability?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2971800"/>
            <a:ext cx="1691640" cy="868680"/>
          </a:xfrm>
          <a:prstGeom prst="chevron">
            <a:avLst/>
          </a:prstGeom>
          <a:solidFill>
            <a:srgbClr val="E5E7EB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515358" y="311089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81213" y="343551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CGM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017520" y="2971800"/>
            <a:ext cx="1691640" cy="868680"/>
          </a:xfrm>
          <a:prstGeom prst="chevron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572758" y="311089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38613" y="343551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insulin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074920" y="2971800"/>
            <a:ext cx="1691640" cy="868680"/>
          </a:xfrm>
          <a:prstGeom prst="chevron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630158" y="311089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96013" y="343551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carbs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132320" y="2971800"/>
            <a:ext cx="1691640" cy="868680"/>
          </a:xfrm>
          <a:prstGeom prst="chevron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687558" y="311089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53413" y="343551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full nutrition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9189720" y="2971800"/>
            <a:ext cx="1691640" cy="868680"/>
          </a:xfrm>
          <a:prstGeom prst="chevron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744958" y="311089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710813" y="3435511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activity/time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960120" y="4617720"/>
            <a:ext cx="292608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1188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88720" y="5056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9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• Chronos-2 • TimesFM-3 • optional CGMformer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4617720" y="4617720"/>
            <a:ext cx="292608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48463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846320" y="5056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9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T1D-UOM primary; AZT1D / HUPA shared-feature validation if time permits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8275320" y="4617720"/>
            <a:ext cx="292608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85039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503920" y="5056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9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• RMSE • 30/60/120-min error • uncertainty • latency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585216" y="60533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GlycoLens Scientific Method &amp; Evaluation Plan; T1D-UOM dataset paper/Zenodo</a:t>
            </a:r>
            <a:endParaRPr lang="en-US" sz="560" dirty="0"/>
          </a:p>
        </p:txBody>
      </p:sp>
      <p:sp>
        <p:nvSpPr>
          <p:cNvPr id="34" name="Rectangle 33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Plan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implementation is a modular monolith with swappable model adapters, optimized for a one-semester capstone.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1051560" y="1920240"/>
            <a:ext cx="1001268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051560" y="1920240"/>
            <a:ext cx="146304" cy="914400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417320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PWA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60520" y="2093976"/>
            <a:ext cx="6309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TypeScript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capture • charts • forecast UX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53328" y="2834640"/>
            <a:ext cx="0" cy="320040"/>
          </a:xfrm>
          <a:prstGeom prst="line">
            <a:avLst/>
          </a:prstGeom>
          <a:noFill/>
          <a:ln w="2286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1051560" y="3154680"/>
            <a:ext cx="10012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1051560" y="3154680"/>
            <a:ext cx="146304" cy="914400"/>
          </a:xfrm>
          <a:prstGeom prst="rect">
            <a:avLst/>
          </a:prstGeom>
          <a:solidFill>
            <a:srgbClr val="2B5D83"/>
          </a:solidFill>
          <a:ln w="12700">
            <a:solidFill>
              <a:srgbClr val="2B5D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417320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160520" y="3328416"/>
            <a:ext cx="6309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service • context builder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orchestrator • retrieval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4069080"/>
            <a:ext cx="0" cy="320040"/>
          </a:xfrm>
          <a:prstGeom prst="line">
            <a:avLst/>
          </a:prstGeom>
          <a:noFill/>
          <a:ln w="22860">
            <a:solidFill>
              <a:srgbClr val="F7690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051560" y="4389120"/>
            <a:ext cx="100126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1051560" y="4389120"/>
            <a:ext cx="146304" cy="914400"/>
          </a:xfrm>
          <a:prstGeom prst="rect">
            <a:avLst/>
          </a:prstGeom>
          <a:solidFill>
            <a:srgbClr val="256A3B"/>
          </a:solidFill>
          <a:ln w="12700">
            <a:solidFill>
              <a:srgbClr val="256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417320" y="4599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models + APIs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160520" y="4562856"/>
            <a:ext cx="6309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PostgreSQL/Supabase + pgvector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Chronos-2 / TimesFM-3 • USDA/OFF • Dexcom/simulator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143000" y="573523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C75300"/>
          </a:solidFill>
          <a:ln w="12700">
            <a:solidFill>
              <a:srgbClr val="C753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260020" y="581558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PWA?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2331720" y="57972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for phone + laptop demos, browser camera support for barcode scanning, and no app-store dependency.</a:t>
            </a:r>
            <a:endParaRPr lang="en-US" sz="1170" dirty="0"/>
          </a:p>
        </p:txBody>
      </p:sp>
      <p:sp>
        <p:nvSpPr>
          <p:cNvPr id="24" name="Text 21"/>
          <p:cNvSpPr/>
          <p:nvPr/>
        </p:nvSpPr>
        <p:spPr>
          <a:xfrm>
            <a:off x="585216" y="60533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USDA/Open Food Facts API docs</a:t>
            </a:r>
            <a:endParaRPr lang="en-US" sz="560" dirty="0"/>
          </a:p>
        </p:txBody>
      </p:sp>
      <p:sp>
        <p:nvSpPr>
          <p:cNvPr id="25" name="Rectangle 2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ages_all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283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SPECIFICATION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85216" y="768096"/>
            <a:ext cx="73152" cy="475488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64008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Plan &amp; Milestones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135331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planned execution path; no experimental results are claimed in this specification presentation.</a:t>
            </a:r>
            <a:endParaRPr lang="en-US" sz="1480" dirty="0"/>
          </a:p>
        </p:txBody>
      </p:sp>
      <p:sp>
        <p:nvSpPr>
          <p:cNvPr id="7" name="Shape 4"/>
          <p:cNvSpPr/>
          <p:nvPr/>
        </p:nvSpPr>
        <p:spPr>
          <a:xfrm>
            <a:off x="1143000" y="2761488"/>
            <a:ext cx="9857232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914400" y="2505456"/>
            <a:ext cx="502920" cy="502920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6751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347472" y="3547872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plan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291840" y="2505456"/>
            <a:ext cx="502920" cy="502920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04495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368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2724912" y="3547872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audit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smoke tests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PWA/backend skeleton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669280" y="2505456"/>
            <a:ext cx="502920" cy="502920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2239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21808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5102352" y="3547872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ablation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forecast flow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046720" y="2505456"/>
            <a:ext cx="502920" cy="502920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79983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99248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7479792" y="3547872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final demo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10195560" y="2505456"/>
            <a:ext cx="502920" cy="502920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994867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848088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9628632" y="3547872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987552" y="4974336"/>
            <a:ext cx="996696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261872" y="516636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protection: preserve the working app, T1D-UOM event pipeline, at least two pretrained model evaluations, persistence baseline, and forecast visualization.</a:t>
            </a:r>
            <a:endParaRPr lang="en-US" sz="1220" dirty="0"/>
          </a:p>
        </p:txBody>
      </p:sp>
      <p:sp>
        <p:nvSpPr>
          <p:cNvPr id="31" name="Rectangle 30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6902"/>
          </a:solidFill>
          <a:ln w="12700">
            <a:solidFill>
              <a:srgbClr val="F7690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37160" y="659282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966960" y="6592824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Institute of Technology</a:t>
            </a:r>
            <a:endParaRPr lang="en-US" sz="390" dirty="0"/>
          </a:p>
        </p:txBody>
      </p:sp>
      <p:sp>
        <p:nvSpPr>
          <p:cNvPr id="5" name="Text 3"/>
          <p:cNvSpPr/>
          <p:nvPr/>
        </p:nvSpPr>
        <p:spPr>
          <a:xfrm>
            <a:off x="804672" y="786384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Deliverables &amp; Success Criteria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26464"/>
            <a:ext cx="10012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not proving one model wins; success is determining what works, what context matters, and whether it can be integrated into a practical app.</a:t>
            </a:r>
            <a:endParaRPr lang="en-US" sz="147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105613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5568" y="2633472"/>
            <a:ext cx="347472" cy="34747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25296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PWA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1069848" y="3611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→ nutrition → forecast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108960" y="2633472"/>
            <a:ext cx="347472" cy="34747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218688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backend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063240" y="3611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model adapters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102352" y="2633472"/>
            <a:ext cx="347472" cy="34747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12080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2352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results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5056632" y="3611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+ context ablation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095744" y="2633472"/>
            <a:ext cx="347472" cy="34747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05472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95744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7050024" y="3611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meals + Meal Passport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089136" y="2633472"/>
            <a:ext cx="347472" cy="34747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98864" y="27249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89136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UI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9043416" y="3611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+ portion comparison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1078992" y="5230368"/>
            <a:ext cx="10012680" cy="566928"/>
          </a:xfrm>
          <a:prstGeom prst="roundRect">
            <a:avLst>
              <a:gd name="adj" fmla="val 16129"/>
            </a:avLst>
          </a:prstGeom>
          <a:solidFill>
            <a:srgbClr val="111827">
              <a:alpha val="88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325880" y="5394960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 boundary: no insulin-dose recommendation, no pump control, no diagnostic or clinical-grade claim.</a:t>
            </a:r>
            <a:endParaRPr lang="en-US" sz="1260" dirty="0"/>
          </a:p>
        </p:txBody>
      </p:sp>
      <p:sp>
        <p:nvSpPr>
          <p:cNvPr id="31" name="Rectangle 30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7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1168" y="6291072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RIT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364224"/>
            <a:ext cx="329184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Rochester Institute of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364224"/>
            <a:ext cx="1645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040CE53DFCA14CA16226846E6F7A3E" ma:contentTypeVersion="9" ma:contentTypeDescription="Create a new document." ma:contentTypeScope="" ma:versionID="5ceb6835c1b5449aa7a31322c0e11c1c">
  <xsd:schema xmlns:xsd="http://www.w3.org/2001/XMLSchema" xmlns:xs="http://www.w3.org/2001/XMLSchema" xmlns:p="http://schemas.microsoft.com/office/2006/metadata/properties" xmlns:ns3="c438d782-26c5-407f-9ec6-765f3cd21aae" targetNamespace="http://schemas.microsoft.com/office/2006/metadata/properties" ma:root="true" ma:fieldsID="6a26213f24fa2827109664d6fec465b0" ns3:_="">
    <xsd:import namespace="c438d782-26c5-407f-9ec6-765f3cd21a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8d782-26c5-407f-9ec6-765f3cd21a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38d782-26c5-407f-9ec6-765f3cd21aae" xsi:nil="true"/>
  </documentManagement>
</p:properties>
</file>

<file path=customXml/itemProps1.xml><?xml version="1.0" encoding="utf-8"?>
<ds:datastoreItem xmlns:ds="http://schemas.openxmlformats.org/officeDocument/2006/customXml" ds:itemID="{0E5738DA-D93E-476E-94B8-8A5DF7B41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38d782-26c5-407f-9ec6-765f3cd21a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DD8F38-8775-472B-A8E5-5104E5B210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EB8207-704A-4BE8-A8E2-A874540BC6C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438d782-26c5-407f-9ec6-765f3cd21aa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1467</Words>
  <Application>Microsoft Office PowerPoint</Application>
  <PresentationFormat>Widescreen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Rochester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GlycoLens: AI-Assisted Meal Understanding and Personalized Glucose Response Prediction for Type 1 Diabetes</dc:title>
  <dc:subject>GlycoLens Project Specification Presentation</dc:subject>
  <dc:creator>Sourav Patil</dc:creator>
  <cp:lastModifiedBy>Sourav Patil</cp:lastModifiedBy>
  <cp:revision>3</cp:revision>
  <dcterms:created xsi:type="dcterms:W3CDTF">2026-09-18T21:45:02Z</dcterms:created>
  <dcterms:modified xsi:type="dcterms:W3CDTF">2026-09-19T00:05:08Z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0x01010020040CE53DFCA14CA16226846E6F7A3E</vt:lpwstr>
  </property>
</Properties>
</file>